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8"/>
  </p:notesMasterIdLst>
  <p:sldIdLst>
    <p:sldId id="320" r:id="rId43"/>
    <p:sldId id="321" r:id="rId42"/>
    <p:sldId id="322" r:id="rId41"/>
    <p:sldId id="323" r:id="rId40"/>
    <p:sldId id="324" r:id="rId39"/>
    <p:sldId id="325" r:id="rId38"/>
    <p:sldId id="326" r:id="rId37"/>
    <p:sldId id="327" r:id="rId36"/>
    <p:sldId id="334" r:id="rId29"/>
    <p:sldId id="328" r:id="rId35"/>
    <p:sldId id="329" r:id="rId34"/>
    <p:sldId id="330" r:id="rId33"/>
    <p:sldId id="331" r:id="rId32"/>
    <p:sldId id="332" r:id="rId31"/>
    <p:sldId id="333" r:id="rId30"/>
    <p:sldId id="339" r:id="rId24"/>
    <p:sldId id="335" r:id="rId28"/>
    <p:sldId id="336" r:id="rId27"/>
    <p:sldId id="337" r:id="rId26"/>
    <p:sldId id="338" r:id="rId25"/>
    <p:sldId id="340" r:id="rId23"/>
    <p:sldId id="341" r:id="rId22"/>
    <p:sldId id="342" r:id="rId21"/>
    <p:sldId id="343" r:id="rId20"/>
    <p:sldId id="344" r:id="rId19"/>
    <p:sldId id="345" r:id="rId18"/>
    <p:sldId id="346" r:id="rId17"/>
    <p:sldId id="347" r:id="rId16"/>
    <p:sldId id="348" r:id="rId15"/>
    <p:sldId id="349" r:id="rId14"/>
  </p:sldIdLst>
  <p:sldSz cx="18288000" cy="10287000"/>
  <p:notesSz cx="6858000" cy="9144000"/>
  <p:embeddedFontLst>
    <p:embeddedFont>
      <p:font typeface="League Spartan" charset="1" panose="00000800000000000000"/>
      <p:regular r:id="rId44"/>
    </p:embeddedFont>
    <p:embeddedFont>
      <p:font typeface="Poppins Bold" charset="1" panose="00000800000000000000"/>
      <p:regular r:id="rId45"/>
    </p:embeddedFont>
    <p:embeddedFont>
      <p:font typeface="Canva Sans Bold" charset="1" panose="020B0803030501040103"/>
      <p:regular r:id="rId46"/>
    </p:embeddedFont>
    <p:embeddedFont>
      <p:font typeface="Poppins" charset="1" panose="00000500000000000000"/>
      <p:regular r:id="rId47"/>
    </p:embeddedFont>
    <p:embeddedFont>
      <p:font typeface="Canva Sans" charset="1" panose="020B05030305010401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4" Type="http://schemas.openxmlformats.org/officeDocument/2006/relationships/slide" Target="slides/slide30.xml"/><Relationship Id="rId15" Type="http://schemas.openxmlformats.org/officeDocument/2006/relationships/slide" Target="slides/slide29.xml"/><Relationship Id="rId16" Type="http://schemas.openxmlformats.org/officeDocument/2006/relationships/slide" Target="slides/slide28.xml"/><Relationship Id="rId17" Type="http://schemas.openxmlformats.org/officeDocument/2006/relationships/slide" Target="slides/slide27.xml"/><Relationship Id="rId18" Type="http://schemas.openxmlformats.org/officeDocument/2006/relationships/slide" Target="slides/slide26.xml"/><Relationship Id="rId19" Type="http://schemas.openxmlformats.org/officeDocument/2006/relationships/slide" Target="slides/slide25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21.xml"/><Relationship Id="rId24" Type="http://schemas.openxmlformats.org/officeDocument/2006/relationships/slide" Target="slides/slide16.xml"/><Relationship Id="rId25" Type="http://schemas.openxmlformats.org/officeDocument/2006/relationships/slide" Target="slides/slide20.xml"/><Relationship Id="rId26" Type="http://schemas.openxmlformats.org/officeDocument/2006/relationships/slide" Target="slides/slide19.xml"/><Relationship Id="rId27" Type="http://schemas.openxmlformats.org/officeDocument/2006/relationships/slide" Target="slides/slide18.xml"/><Relationship Id="rId28" Type="http://schemas.openxmlformats.org/officeDocument/2006/relationships/slide" Target="slides/slide17.xml"/><Relationship Id="rId29" Type="http://schemas.openxmlformats.org/officeDocument/2006/relationships/slide" Target="slides/slide9.xml"/><Relationship Id="rId30" Type="http://schemas.openxmlformats.org/officeDocument/2006/relationships/slide" Target="slides/slide15.xml"/><Relationship Id="rId31" Type="http://schemas.openxmlformats.org/officeDocument/2006/relationships/slide" Target="slides/slide14.xml"/><Relationship Id="rId32" Type="http://schemas.openxmlformats.org/officeDocument/2006/relationships/slide" Target="slides/slide13.xml"/><Relationship Id="rId33" Type="http://schemas.openxmlformats.org/officeDocument/2006/relationships/slide" Target="slides/slide12.xml"/><Relationship Id="rId34" Type="http://schemas.openxmlformats.org/officeDocument/2006/relationships/slide" Target="slides/slide11.xml"/><Relationship Id="rId35" Type="http://schemas.openxmlformats.org/officeDocument/2006/relationships/slide" Target="slides/slide10.xml"/><Relationship Id="rId36" Type="http://schemas.openxmlformats.org/officeDocument/2006/relationships/slide" Target="slides/slide8.xml"/><Relationship Id="rId37" Type="http://schemas.openxmlformats.org/officeDocument/2006/relationships/slide" Target="slides/slide7.xml"/><Relationship Id="rId38" Type="http://schemas.openxmlformats.org/officeDocument/2006/relationships/slide" Target="slides/slide6.xml"/><Relationship Id="rId39" Type="http://schemas.openxmlformats.org/officeDocument/2006/relationships/slide" Target="slides/slide5.xml"/><Relationship Id="rId40" Type="http://schemas.openxmlformats.org/officeDocument/2006/relationships/slide" Target="slides/slide4.xml"/><Relationship Id="rId41" Type="http://schemas.openxmlformats.org/officeDocument/2006/relationships/slide" Target="slides/slide3.xml"/><Relationship Id="rId42" Type="http://schemas.openxmlformats.org/officeDocument/2006/relationships/slide" Target="slides/slide2.xml"/><Relationship Id="rId43" Type="http://schemas.openxmlformats.org/officeDocument/2006/relationships/slide" Target="slides/slide1.xml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notesMaster" Target="notesMasters/notesMaster1.xml"/><Relationship Id="rId49" Type="http://schemas.openxmlformats.org/officeDocument/2006/relationships/theme" Target="theme/theme2.xml"/><Relationship Id="rId51" Type="http://schemas.openxmlformats.org/officeDocument/2006/relationships/font" Target="fonts/font5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สไลด์เปิด: ภาพรวมบริการ AI Transformation ของ IMC Institute — อบรม + ลงมือทำจริงพร้อมกัน ร่วมกับแพลตฟอร์ม NeuronKnowledge และ NeuronHub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3 กลุ่มลูกค้าเป้าหมาย + โจทย์ด้านความรู้ขององค์กร ใช้เปิดบทสนทนาให้ลูกค้าเล่าว่าเจอข้อใดบ้าง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โครงแพ็กเกจใหม่: กลุ่มบริการ (ทีม IMC ลงมือทำ) = 1 Quick-win Dashboard, 2 AI Transformation, 3 Bot ทำงานแทนคน; กลุ่มแพลตฟอร์ม (ใช้งานต่อเนื่อง) = 4 IMC Chat, 5 Knowledge &amp; MCP Hub. ขายแยกหรือรวมเป็นชุดก็ได้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ทางเข้า: Free Assessment และ Workshop. ชุดรวม: Starter (Quick-win + IMC Chat) และ Transformation Suite (แพ็กเกจ 2+3+4+5). ภาพขวา: Bots และ IMC Chat ดึงความรู้และ Tools จาก Knowledge &amp; MCP Hub ผ่าน 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3 (กลุ่มลูกค้า 1–2 และ 4) จับคู่กับ 5 แพ็กเกจ; แถว IMC Chat และ Knowledge &amp; MCP Hub เป็นข้อเสนอเพิ่ม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2.1 แนวคิดหลัก และ 2.3 จุดต่างของ IMC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7.5 Funnel การขาย (ปรับเป็นมุมมองลูกค้า)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4.2 และกรณีศึกษา 5.2–5.3. ไทม์ไลน์เป็นตัวอย่างข้อเสนอ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5.2–5.4 กรณีศึกษาองค์กร A และ B (ไม่เปิดเผยชื่อตามความลับของลูกค้า)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4.3 วิธีการแบ่งตามระยะ (Phase 1–5)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4.3 ตัวอย่างไทม์ไลน์รายสัปดาห์ (ข้อเสนอ) — การจัดแถบ Phase ตามสัปดาห์เป็นการสรุปจากตารางรายสัปดาห์ในเอกสาร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4.3 บทบาทของทีมลูกค้าและ IMC Institute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แพ็กเกจใหม่แยกจาก AI Transformation: IMC สร้างและติดตั้ง bot ที่ใช้งานได้เลย (done-for-you) คนยังเป็นผู้อนุมัติ. ระดับ Starter / Department Bot Pack / Bot Care และขอบเขตเป็นข้อเสนอ ปรับตามงานลูกค้า. ตัวอย่าง bots อ้างอิงที่ IMC ใช้เอง 23 ตัว (ดูสไลด์ถัดไป)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5.1 กรณีศึกษาที่ 1 — IMC Institute ทำ AI Transformation ด้วย Agents (Grok Bot) แบ่งตามฝ่าย 1+6+8+5+3 = 23 bots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5.1 ตัวอย่าง Flow ที่ใช้งานจริง และหลักการกำกับดูแล — มนุษย์เป็นผู้อนุมัติก่อนส่งงานใด ๆ ออกไป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โปรเจกต์ imc-chat-aiagent (README, docs/MARKETPLACE_PLAN, SKILL_SYSTEM_PLAN) — agent loop, tools จาก built-in/MCP/skills, citation, share, embed, market, quota, audit, access control. ระบบนี้พัฒนาให้หน่วยงานภาครัฐด้านการค้า (ไม่ระบุชื่อในสไลด์)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อินโฟกราฟิก NeuronKnowledge + decisions D-005 (โมเดลธุรกิจ: Ready Agent พร้อมคลังความรู้ vector DB ของ IMC) ลูกค้าเลือกได้ 3 แบบ และยังเลือกให้ IMC สร้าง vector DB และ agent ให้ตั้งแต่ต้นได้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อินโฟกราฟิก NeuronKnowledge (Our Knowledge Library) + decisions D-006 และ D-008. Ready Agent ตัวแรกคือ Import-Export Agent เดโมที่งาน AI Expo พ.ย. 2026 — โดเมนอื่นทยอยเปิด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สถาปัตยกรรมภาพรวมของ NeuronKnowledge: แหล่งข้อมูล → Knowledge Engine (ตัดคำไทย, chunk, embedding, hybrid RAG) → Agent Factory (use case, prompt เวอร์ชัน, tools/skills) → ช่องทางใช้งาน. ที่มา: อินโฟกราฟิก + decisions D-005/D-012/D-013/D-014 + docs/specs. รายการที่มี * อยู่ใน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decisions D-010 (3 บทบาท User / Creator / Admin) และ docs/specs S01–S06, P01–P03, A01. ลำดับ 6 ขั้นของ Creator: เชื่อมข้อมูล → Knowledge Set → Use case → Agent → ทดสอบและวัดผล → เผยแพร่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อินโฟกราฟิก NeuronHub (Our Services / Key Features) และ README ของ imc-neuronknowledge (รองรับ Provider แบบ OpenAI-compatible: OpenAI, OpenRouter, Ollama, vLLM, DeepSeek; MCP; Agents/Skills; Admin &amp; Token Analytics)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6 ความเสี่ยงและการกำกับดูแล + ความสามารถของแพลตฟอร์ม (RBAC ตามกลุ่ม, Activity Log, DB แบบอ่านอย่างเดียวและเข้ารหัสรหัสผ่าน, Citation)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4.3 KPI วัดความสำเร็จ — ค่าเป้าหมายเป็นตัวอย่างข้อเสนอ ยังไม่ใช่ผลลัพธ์ที่เกิดขึ้นจริง ใช้ตกลงกับลูกค้าแต่ละรายใน 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decisions D-005/D-006, docs/MIRO_BOARD_IMPROVEMENTS.md (Phase 1 = AI Expo, Phase 2 = เปิด Hub ให้ลูกค้า) และ docs/specs/README (LINE หลัง Expo). เป็นแผนร่าง อาจปรับตามความพร้อม — ตรวจวัน AI Expo ให้ตรงก่อนนำเสนอ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ที่มา: เอกสารแนวคิดบริการ หัวข้อ 7.7 (Free Assessment, Workshop, แพ็กเกจ 1, 2) — ตัวอย่างข้อเสนอ ยังไม่ใช่ราคาที่ IMC ยืนยัน. แพ็กเกจ 3, 4, 5 เป็นแพ็กเกจใหม่ ยังไม่ได้กำหนดราคา ควรลบหรือยืนยันตัวเลขก่อนส่งให้ลูกค้า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ข้อมูลติดต่อจากอินโฟกราฟิกของ IMC Institute. ขั้นตอนถัดไปอ้างอิงเอกสารแนวคิดบริการ: เริ่มที่ Free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ปิดการนำเสนอ — เปิดช่วงถามตอบ และชวนนัด Free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ภาคผนวก: อินโฟกราฟิก AI Transformation — People, Process &amp; AI Enablement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ภาคผนวก: อินโฟกราฟิก NeuronKnowledge — Domain Knowledge Agent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ภาคผนวก: อินโฟกราฟิก NeuronHub — Gen-AI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.xml"/><Relationship Id="rId9" Type="http://schemas.openxmlformats.org/officeDocument/2006/relationships/image" Target="../media/image4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4.png"/><Relationship Id="rId10" Type="http://schemas.openxmlformats.org/officeDocument/2006/relationships/image" Target="../media/image8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6.xml"/><Relationship Id="rId9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8.xml"/><Relationship Id="rId9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1.xml"/><Relationship Id="rId9" Type="http://schemas.openxmlformats.org/officeDocument/2006/relationships/image" Target="../media/image12.png"/><Relationship Id="rId10" Type="http://schemas.openxmlformats.org/officeDocument/2006/relationships/image" Target="../media/image14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3.xml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5.xml"/><Relationship Id="rId9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6.xml"/><Relationship Id="rId9" Type="http://schemas.openxmlformats.org/officeDocument/2006/relationships/image" Target="../media/image31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4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7.xml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8.xml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9.xml"/><Relationship Id="rId9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0.xml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1.xml"/><Relationship Id="rId9" Type="http://schemas.openxmlformats.org/officeDocument/2006/relationships/image" Target="../media/image39.png"/><Relationship Id="rId10" Type="http://schemas.openxmlformats.org/officeDocument/2006/relationships/image" Target="../media/image44.png"/><Relationship Id="rId11" Type="http://schemas.openxmlformats.org/officeDocument/2006/relationships/image" Target="../media/image12.png"/><Relationship Id="rId12" Type="http://schemas.openxmlformats.org/officeDocument/2006/relationships/image" Target="../media/image29.png"/><Relationship Id="rId13" Type="http://schemas.openxmlformats.org/officeDocument/2006/relationships/image" Target="../media/image1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2.xml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46.png"/><Relationship Id="rId12" Type="http://schemas.openxmlformats.org/officeDocument/2006/relationships/image" Target="../media/image5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3.xml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4.xml"/><Relationship Id="rId9" Type="http://schemas.openxmlformats.org/officeDocument/2006/relationships/image" Target="../media/image16.png"/><Relationship Id="rId10" Type="http://schemas.openxmlformats.org/officeDocument/2006/relationships/image" Target="../media/image5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63.png"/><Relationship Id="rId5" Type="http://schemas.openxmlformats.org/officeDocument/2006/relationships/image" Target="../media/image32.jpe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26.xml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801313">
            <a:off x="17880564" y="-1225519"/>
            <a:ext cx="1603602" cy="5817991"/>
            <a:chOff x="0" y="0"/>
            <a:chExt cx="422348" cy="153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348" cy="1532310"/>
            </a:xfrm>
            <a:custGeom>
              <a:avLst/>
              <a:gdLst/>
              <a:ahLst/>
              <a:cxnLst/>
              <a:rect r="r" b="b" t="t" l="l"/>
              <a:pathLst>
                <a:path h="1532310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1532310"/>
                  </a:lnTo>
                  <a:lnTo>
                    <a:pt x="0" y="153231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2348" cy="1589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36825" cy="10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3"/>
              <a:stretch>
                <a:fillRect l="-26258" t="0" r="-2625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42748" cy="2135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12800" cy="212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569629" y="4123276"/>
            <a:ext cx="10225576" cy="1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40"/>
              </a:lnSpc>
            </a:pPr>
            <a:r>
              <a:rPr lang="en-US" b="true" sz="4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Transformation Packages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2640" y="7339236"/>
            <a:ext cx="8138160" cy="241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IMC Institute</a:t>
            </a:r>
          </a:p>
          <a:p>
            <a:pPr algn="r">
              <a:lnSpc>
                <a:spcPts val="47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แนวคิดบริการ · ฉบับร่างเพื่อพิจารณา</a:t>
            </a: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/>
            </a: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ตุลาคม 2026</a:t>
            </a:r>
          </a:p>
        </p:txBody>
      </p:sp>
      <p:sp>
        <p:nvSpPr>
          <p:cNvPr id="23" name="Tagline"/>
          <p:cNvSpPr txBox="1"/>
          <p:nvPr/>
        </p:nvSpPr>
        <p:spPr>
          <a:xfrm>
            <a:off x="7571231" y="5669280"/>
            <a:ext cx="1022299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เปลี่ยนคน เปลี่ยนกระบวนการ
ให้ AI ทำงานร่วมกับคน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โจทย์ที่องค์กรเจอวันนี้</a:t>
            </a:r>
          </a:p>
        </p:txBody>
      </p:sp>
      <p:sp>
        <p:nvSpPr>
          <p:cNvPr id="12" name="Card 1"/>
          <p:cNvSpPr/>
          <p:nvPr/>
        </p:nvSpPr>
        <p:spPr>
          <a:xfrm>
            <a:off x="1463040" y="278892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ChartColumn"/>
          <p:cNvSpPr/>
          <p:nvPr/>
        </p:nvSpPr>
        <p:spPr>
          <a:xfrm>
            <a:off x="1737360" y="310896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ChartColumn" descr="ChartColumn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3314700"/>
            <a:ext cx="411479" cy="4114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4640" y="3044952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ข้อมูลเยอะ ตัดสินใจช้า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5760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ข้อมูลใน ERP และระบบต่าง ๆ มีมาก แต่ผู้บริหารดูยากและใช้ตัดสินใจได้ช้า</a:t>
            </a:r>
          </a:p>
        </p:txBody>
      </p:sp>
      <p:sp>
        <p:nvSpPr>
          <p:cNvPr id="17" name="Card 2"/>
          <p:cNvSpPr/>
          <p:nvPr/>
        </p:nvSpPr>
        <p:spPr>
          <a:xfrm>
            <a:off x="8686800" y="278892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adge Repeat"/>
          <p:cNvSpPr/>
          <p:nvPr/>
        </p:nvSpPr>
        <p:spPr>
          <a:xfrm>
            <a:off x="8961120" y="310896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Icon Repeat" descr="Repeat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6860" y="3314700"/>
            <a:ext cx="411479" cy="411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0" y="3044952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งานซ้ำใช้คนมาก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65760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ลงข้อมูล ออกเอกสาร ร่างอีเมล ทำซ้ำทุกวัน กินเวลาของทีมงาน</a:t>
            </a:r>
          </a:p>
        </p:txBody>
      </p:sp>
      <p:sp>
        <p:nvSpPr>
          <p:cNvPr id="22" name="Card 3"/>
          <p:cNvSpPr/>
          <p:nvPr/>
        </p:nvSpPr>
        <p:spPr>
          <a:xfrm>
            <a:off x="1463040" y="493776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dge GraduationCap"/>
          <p:cNvSpPr/>
          <p:nvPr/>
        </p:nvSpPr>
        <p:spPr>
          <a:xfrm>
            <a:off x="1737360" y="525780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Icon GraduationCap" descr="GraduationCap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3100" y="5463540"/>
            <a:ext cx="411479" cy="4114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34640" y="5193792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อบรมแล้วไม่เกิดผลจริง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80644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ทีมมีความรู้เรื่อง AI แต่ยังไม่เปลี่ยนวิธีทำงานในกระบวนการ</a:t>
            </a:r>
          </a:p>
        </p:txBody>
      </p:sp>
      <p:sp>
        <p:nvSpPr>
          <p:cNvPr id="27" name="Card 4"/>
          <p:cNvSpPr/>
          <p:nvPr/>
        </p:nvSpPr>
        <p:spPr>
          <a:xfrm>
            <a:off x="8686800" y="493776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adge BookOpen"/>
          <p:cNvSpPr/>
          <p:nvPr/>
        </p:nvSpPr>
        <p:spPr>
          <a:xfrm>
            <a:off x="8961120" y="525780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Icon BookOpen" descr="BookOpen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6860" y="5463540"/>
            <a:ext cx="411479" cy="4114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58400" y="5193792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ความรู้กระจัดกระจาย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80644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ความรู้อยู่ในเอกสาร ฐานข้อมูล และตัวคน ค้นยากและตอบไม่ตรงกัน</a:t>
            </a:r>
          </a:p>
        </p:txBody>
      </p:sp>
      <p:sp>
        <p:nvSpPr>
          <p:cNvPr id="32" name="Card 5"/>
          <p:cNvSpPr/>
          <p:nvPr/>
        </p:nvSpPr>
        <p:spPr>
          <a:xfrm>
            <a:off x="1463040" y="708660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adge ShieldCheck"/>
          <p:cNvSpPr/>
          <p:nvPr/>
        </p:nvSpPr>
        <p:spPr>
          <a:xfrm>
            <a:off x="1737360" y="740664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Icon ShieldCheck" descr="ShieldCheck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3100" y="7612379"/>
            <a:ext cx="411479" cy="4114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34640" y="7342631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กังวลเรื่องความปลอดภัย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7955279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กลัวข้อมูลรั่ว AI ตอบผิด หรือส่งเอกสารผิดออกนอกองค์กร</a:t>
            </a:r>
          </a:p>
        </p:txBody>
      </p:sp>
      <p:sp>
        <p:nvSpPr>
          <p:cNvPr id="37" name="Card 6"/>
          <p:cNvSpPr/>
          <p:nvPr/>
        </p:nvSpPr>
        <p:spPr>
          <a:xfrm>
            <a:off x="8686800" y="7086600"/>
            <a:ext cx="6858000" cy="1920240"/>
          </a:xfrm>
          <a:prstGeom prst="roundRect">
            <a:avLst>
              <a:gd name="adj" fmla="val 1190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adge Target"/>
          <p:cNvSpPr/>
          <p:nvPr/>
        </p:nvSpPr>
        <p:spPr>
          <a:xfrm>
            <a:off x="8961120" y="7406640"/>
            <a:ext cx="822960" cy="8229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Icon Target" descr="Target_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6860" y="7612379"/>
            <a:ext cx="411479" cy="4114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58400" y="7342631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ไม่รู้จะเริ่มตรงไหน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7955279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เครื่องมือ AI มากมาย แต่ไม่รู้ว่าควรเริ่มจากงานไหนและเลือกอะไรให้เหมาะ</a:t>
            </a:r>
          </a:p>
        </p:txBody>
      </p:sp>
      <p:sp>
        <p:nvSpPr>
          <p:cNvPr id="42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AI ไม่ได้เปลี่ยนองค์กรจากการอบรมอย่างเดียว — ต้องเปลี่ยนวิธีทำงานจริงของคนและกระบวนการ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5 แพ็กเกจ จาก IMC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5760720" cy="45720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บริการ · ทีม IMC ลงมือทำ</a:t>
            </a:r>
          </a:p>
        </p:txBody>
      </p:sp>
      <p:sp>
        <p:nvSpPr>
          <p:cNvPr id="13" name="Package card 0-1"/>
          <p:cNvSpPr/>
          <p:nvPr/>
        </p:nvSpPr>
        <p:spPr>
          <a:xfrm>
            <a:off x="1463040" y="3383280"/>
            <a:ext cx="4480560" cy="2880360"/>
          </a:xfrm>
          <a:prstGeom prst="roundRect">
            <a:avLst>
              <a:gd name="adj" fmla="val 793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adge ChartColumn"/>
          <p:cNvSpPr/>
          <p:nvPr/>
        </p:nvSpPr>
        <p:spPr>
          <a:xfrm>
            <a:off x="1737360" y="3584448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Icon ChartColumn" descr="ChartColumn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1670" y="3778758"/>
            <a:ext cx="388620" cy="3886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51760" y="358444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348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Quick-win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956048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ปรับข้อมูล ERP ให้ผู้บริหารตัดสินใจได้เร็ว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5641848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ภายในไม่กี่วัน</a:t>
            </a:r>
          </a:p>
        </p:txBody>
      </p:sp>
      <p:sp>
        <p:nvSpPr>
          <p:cNvPr id="20" name="Package card 0-2"/>
          <p:cNvSpPr/>
          <p:nvPr/>
        </p:nvSpPr>
        <p:spPr>
          <a:xfrm>
            <a:off x="6263640" y="3383280"/>
            <a:ext cx="4480560" cy="2880360"/>
          </a:xfrm>
          <a:prstGeom prst="roundRect">
            <a:avLst>
              <a:gd name="adj" fmla="val 793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dge GraduationCap"/>
          <p:cNvSpPr/>
          <p:nvPr/>
        </p:nvSpPr>
        <p:spPr>
          <a:xfrm>
            <a:off x="6537959" y="3584448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Icon GraduationCap" descr="GraduationCap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2270" y="3778758"/>
            <a:ext cx="388620" cy="3886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52360" y="358444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4348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AI 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956048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 + Implement พร้อมกัน เปลี่ยนคนและกระบวนการ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59" y="5641848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1–2 เดือน</a:t>
            </a:r>
          </a:p>
        </p:txBody>
      </p:sp>
      <p:sp>
        <p:nvSpPr>
          <p:cNvPr id="27" name="Package card 0-3"/>
          <p:cNvSpPr/>
          <p:nvPr/>
        </p:nvSpPr>
        <p:spPr>
          <a:xfrm>
            <a:off x="11064240" y="3383280"/>
            <a:ext cx="4480560" cy="2880360"/>
          </a:xfrm>
          <a:prstGeom prst="roundRect">
            <a:avLst>
              <a:gd name="adj" fmla="val 793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adge Bot"/>
          <p:cNvSpPr/>
          <p:nvPr/>
        </p:nvSpPr>
        <p:spPr>
          <a:xfrm>
            <a:off x="11338560" y="3584448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Icon Bot" descr="Bot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2870" y="3778758"/>
            <a:ext cx="388620" cy="3886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252960" y="358444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44348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Bot ทำงานแทนคน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4956048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IMC สร้าง bot ใน workflow จริง คนอนุมัติก่อนส่ง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338560" y="5641848"/>
            <a:ext cx="3931920" cy="438912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Starter · Dept Pack · Care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6400800"/>
            <a:ext cx="5760720" cy="45720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แพลตฟอร์ม · ใช้งานต่อเนื่อง</a:t>
            </a:r>
          </a:p>
        </p:txBody>
      </p:sp>
      <p:sp>
        <p:nvSpPr>
          <p:cNvPr id="35" name="Package card 1-1"/>
          <p:cNvSpPr/>
          <p:nvPr/>
        </p:nvSpPr>
        <p:spPr>
          <a:xfrm>
            <a:off x="1463040" y="6995160"/>
            <a:ext cx="6880860" cy="2057400"/>
          </a:xfrm>
          <a:prstGeom prst="roundRect">
            <a:avLst>
              <a:gd name="adj" fmla="val 11111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adge MessageSquare"/>
          <p:cNvSpPr/>
          <p:nvPr/>
        </p:nvSpPr>
        <p:spPr>
          <a:xfrm>
            <a:off x="1737360" y="7196328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 MessageSquare" descr="MessageSquare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1670" y="7390638"/>
            <a:ext cx="388620" cy="3886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651760" y="7196328"/>
            <a:ext cx="54178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7543800"/>
            <a:ext cx="54178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IMC 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8092440"/>
            <a:ext cx="63322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หน้าแชทผู้ช่วย AI ขององค์กร ตอบพร้อมอ้างอิงแหล่งที่มา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8485632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ใช้ร่วม · แยกของตัวเอง</a:t>
            </a:r>
          </a:p>
        </p:txBody>
      </p:sp>
      <p:sp>
        <p:nvSpPr>
          <p:cNvPr id="42" name="Package card 1-2"/>
          <p:cNvSpPr/>
          <p:nvPr/>
        </p:nvSpPr>
        <p:spPr>
          <a:xfrm>
            <a:off x="8663940" y="6995160"/>
            <a:ext cx="6880860" cy="2057400"/>
          </a:xfrm>
          <a:prstGeom prst="roundRect">
            <a:avLst>
              <a:gd name="adj" fmla="val 11111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adge Network"/>
          <p:cNvSpPr/>
          <p:nvPr/>
        </p:nvSpPr>
        <p:spPr>
          <a:xfrm>
            <a:off x="8938260" y="7196328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Icon Network" descr="Network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2570" y="7390638"/>
            <a:ext cx="388620" cy="3886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852660" y="7196328"/>
            <a:ext cx="54178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2660" y="7543800"/>
            <a:ext cx="54178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Knowledge &amp; MCP Hub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8260" y="8092440"/>
            <a:ext cx="63322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ตัวรวมความรู้และ MCP Tools ให้ Chat และ Bots เรียกใช้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38260" y="8485632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Ready · Custom · Hybrid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ทางเข้า ชุดรวม และการเชื่อมกัน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ทางเข้า</a:t>
            </a:r>
          </a:p>
        </p:txBody>
      </p:sp>
      <p:sp>
        <p:nvSpPr>
          <p:cNvPr id="13" name="Entry 1"/>
          <p:cNvSpPr/>
          <p:nvPr/>
        </p:nvSpPr>
        <p:spPr>
          <a:xfrm>
            <a:off x="1463040" y="3383279"/>
            <a:ext cx="3246120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5021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Free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ฟรี · ประเมินงานที่เหมาะกับ AI</a:t>
            </a:r>
          </a:p>
        </p:txBody>
      </p:sp>
      <p:sp>
        <p:nvSpPr>
          <p:cNvPr id="16" name="Entry 2"/>
          <p:cNvSpPr/>
          <p:nvPr/>
        </p:nvSpPr>
        <p:spPr>
          <a:xfrm>
            <a:off x="4892040" y="3383279"/>
            <a:ext cx="3246120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5021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5935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2–3 ชม. ลงมือกับงานจริง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800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ชุดรวม</a:t>
            </a:r>
          </a:p>
        </p:txBody>
      </p:sp>
      <p:sp>
        <p:nvSpPr>
          <p:cNvPr id="20" name="Bundle Starter"/>
          <p:cNvSpPr/>
          <p:nvPr/>
        </p:nvSpPr>
        <p:spPr>
          <a:xfrm>
            <a:off x="1463040" y="5394960"/>
            <a:ext cx="6675120" cy="1645920"/>
          </a:xfrm>
          <a:prstGeom prst="roundRect">
            <a:avLst>
              <a:gd name="adj" fmla="val 13888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48640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Starter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98932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Quick-win Dashboard + IMC Chat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เริ่มเล็ก เห็นผลเร็ว ผู้บริหารและพนักงานใช้ได้ทันที</a:t>
            </a:r>
          </a:p>
        </p:txBody>
      </p:sp>
      <p:sp>
        <p:nvSpPr>
          <p:cNvPr id="23" name="Bundle Suite"/>
          <p:cNvSpPr/>
          <p:nvPr/>
        </p:nvSpPr>
        <p:spPr>
          <a:xfrm>
            <a:off x="1463040" y="7178040"/>
            <a:ext cx="6675120" cy="1874519"/>
          </a:xfrm>
          <a:prstGeom prst="roundRect">
            <a:avLst>
              <a:gd name="adj" fmla="val 12195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726948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Transformation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7772400"/>
            <a:ext cx="612648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AI Transformation + Bots + IMC Chat + Knowledge &amp; MCP Hub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เปลี่ยนคน ทำ bot ให้ ใช้แชทกลาง และรวมความรู้ไว้ที่เดียว</a:t>
            </a:r>
          </a:p>
        </p:txBody>
      </p:sp>
      <p:sp>
        <p:nvSpPr>
          <p:cNvPr id="26" name="Layer people"/>
          <p:cNvSpPr/>
          <p:nvPr/>
        </p:nvSpPr>
        <p:spPr>
          <a:xfrm>
            <a:off x="8595360" y="2788920"/>
            <a:ext cx="6949440" cy="1325880"/>
          </a:xfrm>
          <a:prstGeom prst="roundRect">
            <a:avLst>
              <a:gd name="adj" fmla="val 17241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289864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AI Transformation · Quick-win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447287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เปลี่ยนคนและกระบวนการ เลือกงานที่ให้ bot ทำแทน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64140" y="4160520"/>
            <a:ext cx="0" cy="594359"/>
          </a:xfrm>
          <a:prstGeom prst="line">
            <a:avLst/>
          </a:prstGeom>
          <a:ln w="31750">
            <a:solidFill>
              <a:srgbClr val="003D60"/>
            </a:solidFill>
            <a:tailEnd type="triangle" w="med" len="med"/>
          </a:ln>
        </p:spPr>
      </p:cxnSp>
      <p:sp>
        <p:nvSpPr>
          <p:cNvPr id="30" name="Layer Bot ทำงานแทนคน"/>
          <p:cNvSpPr/>
          <p:nvPr/>
        </p:nvSpPr>
        <p:spPr>
          <a:xfrm>
            <a:off x="8595360" y="4800600"/>
            <a:ext cx="3337560" cy="1417320"/>
          </a:xfrm>
          <a:prstGeom prst="roundRect">
            <a:avLst>
              <a:gd name="adj" fmla="val 16129"/>
            </a:avLst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89204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Bot ทำงานแทนคน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4864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งานซ้ำ คนอนุมัติ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64140" y="6263640"/>
            <a:ext cx="0" cy="777240"/>
          </a:xfrm>
          <a:prstGeom prst="line">
            <a:avLst/>
          </a:prstGeom>
          <a:ln w="31750">
            <a:solidFill>
              <a:srgbClr val="003D60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13876019" y="4160520"/>
            <a:ext cx="0" cy="594359"/>
          </a:xfrm>
          <a:prstGeom prst="line">
            <a:avLst/>
          </a:prstGeom>
          <a:ln w="31750">
            <a:solidFill>
              <a:srgbClr val="003D60"/>
            </a:solidFill>
            <a:tailEnd type="triangle" w="med" len="med"/>
          </a:ln>
        </p:spPr>
      </p:cxnSp>
      <p:sp>
        <p:nvSpPr>
          <p:cNvPr id="35" name="Layer IMC Chat"/>
          <p:cNvSpPr/>
          <p:nvPr/>
        </p:nvSpPr>
        <p:spPr>
          <a:xfrm>
            <a:off x="12207240" y="4800600"/>
            <a:ext cx="3337560" cy="1417320"/>
          </a:xfrm>
          <a:prstGeom prst="roundRect">
            <a:avLst>
              <a:gd name="adj" fmla="val 16129"/>
            </a:avLst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90119" y="489204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IMC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90119" y="54864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ถามตอบพร้อมอ้างอิง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876019" y="6263640"/>
            <a:ext cx="0" cy="777240"/>
          </a:xfrm>
          <a:prstGeom prst="line">
            <a:avLst/>
          </a:prstGeom>
          <a:ln w="31750">
            <a:solidFill>
              <a:srgbClr val="003D60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11430000" y="64465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MCP</a:t>
            </a:r>
          </a:p>
        </p:txBody>
      </p:sp>
      <p:sp>
        <p:nvSpPr>
          <p:cNvPr id="40" name="Layer hub"/>
          <p:cNvSpPr/>
          <p:nvPr/>
        </p:nvSpPr>
        <p:spPr>
          <a:xfrm>
            <a:off x="8595360" y="7086600"/>
            <a:ext cx="6949440" cy="1508760"/>
          </a:xfrm>
          <a:prstGeom prst="roundRect">
            <a:avLst>
              <a:gd name="adj" fmla="val 15151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717804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Knowledge &amp; MCP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77724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ความรู้ + MCP Tools ของ IMC และขององค์กรคุณ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86868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Bots และ IMC Chat ดึงความรู้และเครื่องมือจาก Hub ผ่าน 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แพ็กเกจไหนเหมาะกับใคร</a:t>
            </a:r>
          </a:p>
        </p:txBody>
      </p:sp>
      <p:graphicFrame>
        <p:nvGraphicFramePr>
          <p:cNvPr id="12" name="Fit table"/>
          <p:cNvGraphicFramePr>
            <a:graphicFrameLocks noGrp="1"/>
          </p:cNvGraphicFramePr>
          <p:nvPr/>
        </p:nvGraphicFramePr>
        <p:xfrm>
          <a:off x="1463040" y="2788920"/>
          <a:ext cx="14081760" cy="6016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80560"/>
                <a:gridCol w="5669280"/>
                <a:gridCol w="3931920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กลุ่มลูกค้า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ลักษณะ / ปัญหาที่พบ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แพ็กเกจที่เหมาะสม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ผู้บริหารองค์กรขนาดกลางและใหญ่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มีข้อมูลใน ERP หรือระบบอื่นจำนวนมาก แต่ดูยากและตัดสินใจได้ช้า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1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Quick-win Dashboard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SME และฝ่ายที่งานซ้ำเยอะ (ขาย บัญชี การตลาด)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งานเอกสาร งานขาย งานบัญชีซ้ำ ๆ ใช้คนมาก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3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Bot ทำงานแทนคน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ฝ่าย HR / L&amp;D / Digital Transformation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ต้องการพัฒนาทักษะ AI ให้เห็นผลจริง เปลี่ยนวิธีทำงาน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2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AI Transformation หรือ Workshop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องค์กรที่เคยอบรม AI แล้ว แต่ไม่เกิดการใช้งานจริง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มีความรู้ แต่ยังไม่เปลี่ยนกระบวนการทำงาน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2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AI Transformation 1–2 เดือน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องค์กรที่อยากให้พนักงานมีผู้ช่วย AI ใช้ได้ทันที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ต้องการหน้าแชทกลาง ควบคุมสิทธิ์และตรวจสอบได้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4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IMC Chat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องค์กรที่มีเอกสารและฐานข้อมูลจำนวนมาก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ต้องการคำตอบที่อ้างอิงแหล่งที่มา และรวม Tools ไว้ที่เดียว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5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Knowledge &amp; MCP Hub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7680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ลูกค้าเดิมของ IMC (Public Class / In-House / Webinar)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รู้จัก IMC และสนใจเรื่อง AI อยู่แล้ว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เริ่มจาก </a:t>
                      </a: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Free Assessment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 หรือ </a:t>
                      </a:r>
                      <a:r>
                        <a:rPr sz="1800" b="1" i="0">
                          <a:solidFill>
                            <a:srgbClr val="003D60"/>
                          </a:solidFill>
                          <a:latin typeface="Poppins"/>
                          <a:ea typeface="Poppins"/>
                          <a:cs typeface="Tahoma"/>
                        </a:rPr>
                        <a:t>Workshop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ไม่แน่ใจว่าเริ่มตรงไหน? เริ่มจาก Free Assessment ได้โดยไม่มีค่าใช้จ่าย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หลักคิดของ IMC: อบรม + ลงมือทำ</a:t>
            </a:r>
          </a:p>
        </p:txBody>
      </p:sp>
      <p:sp>
        <p:nvSpPr>
          <p:cNvPr id="12" name="Card 1"/>
          <p:cNvSpPr/>
          <p:nvPr/>
        </p:nvSpPr>
        <p:spPr>
          <a:xfrm>
            <a:off x="1463040" y="2788920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1"/>
          <p:cNvSpPr/>
          <p:nvPr/>
        </p:nvSpPr>
        <p:spPr>
          <a:xfrm>
            <a:off x="1737360" y="31089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1752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อบรม + Implement พร้อมกัน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65760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เรียนรู้จากงานจริง (On-the-job Training) ไม่ใช่อบรมแล้วจบ</a:t>
            </a:r>
          </a:p>
        </p:txBody>
      </p:sp>
      <p:sp>
        <p:nvSpPr>
          <p:cNvPr id="16" name="Card 2"/>
          <p:cNvSpPr/>
          <p:nvPr/>
        </p:nvSpPr>
        <p:spPr>
          <a:xfrm>
            <a:off x="8686800" y="2788920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adge 2"/>
          <p:cNvSpPr/>
          <p:nvPr/>
        </p:nvSpPr>
        <p:spPr>
          <a:xfrm>
            <a:off x="8961120" y="31089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01752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เริ่มจากคน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65760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อบรมครั้งละ 2–3 ชม. ปรับ Mindset ให้ทีมเห็นว่า AI ทำอะไรได้</a:t>
            </a:r>
          </a:p>
        </p:txBody>
      </p:sp>
      <p:sp>
        <p:nvSpPr>
          <p:cNvPr id="20" name="Card 3"/>
          <p:cNvSpPr/>
          <p:nvPr/>
        </p:nvSpPr>
        <p:spPr>
          <a:xfrm>
            <a:off x="1463040" y="4892040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dge 3"/>
          <p:cNvSpPr/>
          <p:nvPr/>
        </p:nvSpPr>
        <p:spPr>
          <a:xfrm>
            <a:off x="1737360" y="521207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12064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Consult ทุก 2–3 วัน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76072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ติดตาม ปรับแก้ และสร้าง Bots ร่วมกับทีม ทีละงาน</a:t>
            </a:r>
          </a:p>
        </p:txBody>
      </p:sp>
      <p:sp>
        <p:nvSpPr>
          <p:cNvPr id="24" name="Card 4"/>
          <p:cNvSpPr/>
          <p:nvPr/>
        </p:nvSpPr>
        <p:spPr>
          <a:xfrm>
            <a:off x="8686800" y="4892040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adge 4"/>
          <p:cNvSpPr/>
          <p:nvPr/>
        </p:nvSpPr>
        <p:spPr>
          <a:xfrm>
            <a:off x="8961120" y="521207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512064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AI ทำงานร่วมกับคน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576072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AI เตรียมงานและร่างเอกสาร คนตรวจและอนุมัติก่อนส่งออก</a:t>
            </a:r>
          </a:p>
        </p:txBody>
      </p:sp>
      <p:sp>
        <p:nvSpPr>
          <p:cNvPr id="28" name="Card 5"/>
          <p:cNvSpPr/>
          <p:nvPr/>
        </p:nvSpPr>
        <p:spPr>
          <a:xfrm>
            <a:off x="1463040" y="6995159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adge 5"/>
          <p:cNvSpPr/>
          <p:nvPr/>
        </p:nvSpPr>
        <p:spPr>
          <a:xfrm>
            <a:off x="1737360" y="731519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7223759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สร้างวัฒนธรรม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786384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ทีมลูกค้าคิดและสร้าง Bots ต่อเองได้หลังจบโครงการ</a:t>
            </a:r>
          </a:p>
        </p:txBody>
      </p:sp>
      <p:sp>
        <p:nvSpPr>
          <p:cNvPr id="32" name="Card differentiator"/>
          <p:cNvSpPr/>
          <p:nvPr/>
        </p:nvSpPr>
        <p:spPr>
          <a:xfrm>
            <a:off x="8686800" y="6995159"/>
            <a:ext cx="6858000" cy="1874519"/>
          </a:xfrm>
          <a:prstGeom prst="roundRect">
            <a:avLst>
              <a:gd name="adj" fmla="val 12195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adge BadgeCheck"/>
          <p:cNvSpPr/>
          <p:nvPr/>
        </p:nvSpPr>
        <p:spPr>
          <a:xfrm>
            <a:off x="8961120" y="731519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Icon BadgeCheck" descr="BadgeChe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7498079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12680" y="7223759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จุดต่าง: “ทำเองมาแล้ว”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786384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IMC ใช้ Agents ประมาณ 23 bots ในงานจริงทุกฝ่าย ตั้งแต่ผู้บริหารถึงการเงิน</a:t>
            </a:r>
          </a:p>
        </p:txBody>
      </p:sp>
      <p:sp>
        <p:nvSpPr>
          <p:cNvPr id="37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IMC เป็นสถาบันฝึกอบรม จึงถนัดการเปลี่ยน Mindset และถ่ายทอดทักษะให้คน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เส้นทางลูกค้า 4 ขั้น</a:t>
            </a:r>
          </a:p>
        </p:txBody>
      </p:sp>
      <p:sp>
        <p:nvSpPr>
          <p:cNvPr id="12" name="Journey 1"/>
          <p:cNvSpPr/>
          <p:nvPr/>
        </p:nvSpPr>
        <p:spPr>
          <a:xfrm>
            <a:off x="1463040" y="2788920"/>
            <a:ext cx="3154680" cy="626364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1"/>
          <p:cNvSpPr/>
          <p:nvPr/>
        </p:nvSpPr>
        <p:spPr>
          <a:xfrm>
            <a:off x="1737360" y="306323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154679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ฟรี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77639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Free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20640"/>
            <a:ext cx="260604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คุยกับผู้บริหาร / ทีม ประเมินงานที่เหมาะกับ AI และเสนองานนำร่อง</a:t>
            </a:r>
          </a:p>
        </p:txBody>
      </p:sp>
      <p:sp>
        <p:nvSpPr>
          <p:cNvPr id="17" name="Result 1"/>
          <p:cNvSpPr/>
          <p:nvPr/>
        </p:nvSpPr>
        <p:spPr>
          <a:xfrm>
            <a:off x="1645920" y="7269480"/>
            <a:ext cx="2788920" cy="1600200"/>
          </a:xfrm>
          <a:prstGeom prst="roundRect">
            <a:avLst>
              <a:gd name="adj" fmla="val 1428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73609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7754112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ได้โจทย์และขอบเขตเบื้องต้น</a:t>
            </a:r>
          </a:p>
        </p:txBody>
      </p:sp>
      <p:sp>
        <p:nvSpPr>
          <p:cNvPr id="20" name="Arrow 1"/>
          <p:cNvSpPr/>
          <p:nvPr/>
        </p:nvSpPr>
        <p:spPr>
          <a:xfrm>
            <a:off x="4690872" y="5532120"/>
            <a:ext cx="341375" cy="548640"/>
          </a:xfrm>
          <a:prstGeom prst="chevron">
            <a:avLst/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Journey 2"/>
          <p:cNvSpPr/>
          <p:nvPr/>
        </p:nvSpPr>
        <p:spPr>
          <a:xfrm>
            <a:off x="5105400" y="2788920"/>
            <a:ext cx="3154680" cy="626364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Badge 2"/>
          <p:cNvSpPr/>
          <p:nvPr/>
        </p:nvSpPr>
        <p:spPr>
          <a:xfrm>
            <a:off x="5379720" y="306323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31280" y="3154679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ไม่กี่วัน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9720" y="3977639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Workshop หรือ Quick-win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9720" y="5120640"/>
            <a:ext cx="260604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 2–3 ชม. พร้อมลงมือกับงานจริง หรือทำ Executive Dashboard ภายในไม่กี่วัน</a:t>
            </a:r>
          </a:p>
        </p:txBody>
      </p:sp>
      <p:sp>
        <p:nvSpPr>
          <p:cNvPr id="26" name="Result 2"/>
          <p:cNvSpPr/>
          <p:nvPr/>
        </p:nvSpPr>
        <p:spPr>
          <a:xfrm>
            <a:off x="5288280" y="7269480"/>
            <a:ext cx="2788920" cy="1600200"/>
          </a:xfrm>
          <a:prstGeom prst="roundRect">
            <a:avLst>
              <a:gd name="adj" fmla="val 1428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1160" y="73609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1160" y="7754112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ลูกค้าเห็นผลและเกิดความเชื่อมั่น</a:t>
            </a:r>
          </a:p>
        </p:txBody>
      </p:sp>
      <p:sp>
        <p:nvSpPr>
          <p:cNvPr id="29" name="Arrow 2"/>
          <p:cNvSpPr/>
          <p:nvPr/>
        </p:nvSpPr>
        <p:spPr>
          <a:xfrm>
            <a:off x="8333232" y="5532120"/>
            <a:ext cx="341375" cy="548640"/>
          </a:xfrm>
          <a:prstGeom prst="chevron">
            <a:avLst/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Journey 3"/>
          <p:cNvSpPr/>
          <p:nvPr/>
        </p:nvSpPr>
        <p:spPr>
          <a:xfrm>
            <a:off x="8747760" y="2788920"/>
            <a:ext cx="3154680" cy="626364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adge 3"/>
          <p:cNvSpPr/>
          <p:nvPr/>
        </p:nvSpPr>
        <p:spPr>
          <a:xfrm>
            <a:off x="9022080" y="306323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73640" y="3154679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1–2 เดือน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2080" y="3977639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AI Transformation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2080" y="5120640"/>
            <a:ext cx="260604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 + Implement พร้อมกัน Consult ทุก 2–3 วัน สร้าง Bots ในงานจริง</a:t>
            </a:r>
          </a:p>
        </p:txBody>
      </p:sp>
      <p:sp>
        <p:nvSpPr>
          <p:cNvPr id="35" name="Result 3"/>
          <p:cNvSpPr/>
          <p:nvPr/>
        </p:nvSpPr>
        <p:spPr>
          <a:xfrm>
            <a:off x="8930640" y="7269480"/>
            <a:ext cx="2788920" cy="1600200"/>
          </a:xfrm>
          <a:prstGeom prst="roundRect">
            <a:avLst>
              <a:gd name="adj" fmla="val 1428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3520" y="73609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3520" y="7754112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Bots ที่ใช้งานจริง และทีมที่สร้างต่อเองได้</a:t>
            </a:r>
          </a:p>
        </p:txBody>
      </p:sp>
      <p:sp>
        <p:nvSpPr>
          <p:cNvPr id="38" name="Arrow 3"/>
          <p:cNvSpPr/>
          <p:nvPr/>
        </p:nvSpPr>
        <p:spPr>
          <a:xfrm>
            <a:off x="11975592" y="5532120"/>
            <a:ext cx="341375" cy="548640"/>
          </a:xfrm>
          <a:prstGeom prst="chevron">
            <a:avLst/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Journey 4"/>
          <p:cNvSpPr/>
          <p:nvPr/>
        </p:nvSpPr>
        <p:spPr>
          <a:xfrm>
            <a:off x="12390119" y="2788920"/>
            <a:ext cx="3154680" cy="626364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adge 4"/>
          <p:cNvSpPr/>
          <p:nvPr/>
        </p:nvSpPr>
        <p:spPr>
          <a:xfrm>
            <a:off x="12664440" y="306323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0" y="3154679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ต่อเนื่อง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64440" y="3977639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ขยายและดูแล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64440" y="5120640"/>
            <a:ext cx="260604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ต่อยอดด้วย Bots, IMC Chat, Knowledge &amp; MCP Hub และ Consult รายเดือน</a:t>
            </a:r>
          </a:p>
        </p:txBody>
      </p:sp>
      <p:sp>
        <p:nvSpPr>
          <p:cNvPr id="44" name="Result 4"/>
          <p:cNvSpPr/>
          <p:nvPr/>
        </p:nvSpPr>
        <p:spPr>
          <a:xfrm>
            <a:off x="12572999" y="7269480"/>
            <a:ext cx="2788920" cy="1600200"/>
          </a:xfrm>
          <a:prstGeom prst="roundRect">
            <a:avLst>
              <a:gd name="adj" fmla="val 1428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55880" y="73609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55880" y="7754112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AI ใช้งานต่อเนื่องและขยายไปทั้งองค์กร</a:t>
            </a:r>
          </a:p>
        </p:txBody>
      </p:sp>
      <p:sp>
        <p:nvSpPr>
          <p:cNvPr id="47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เริ่มจากขั้นไหนก็ได้ตามความพร้อม — ขั้นแรกใช้เวลาไม่นานและไม่มีค่าใช้จ่าย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 1: Quick-win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274320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ภายในไม่กี่วัน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88920"/>
            <a:ext cx="493776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1 ชุดข้อมูล / 1 กลุ่มผู้บริหาร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788920"/>
            <a:ext cx="329184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Claude / ChatGPT</a:t>
            </a:r>
          </a:p>
        </p:txBody>
      </p:sp>
      <p:sp>
        <p:nvSpPr>
          <p:cNvPr id="15" name="Method card"/>
          <p:cNvSpPr/>
          <p:nvPr/>
        </p:nvSpPr>
        <p:spPr>
          <a:xfrm>
            <a:off x="1463040" y="3520439"/>
            <a:ext cx="6858000" cy="4160520"/>
          </a:xfrm>
          <a:prstGeom prst="roundRect">
            <a:avLst>
              <a:gd name="adj" fmla="val 5494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70332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วิธีการ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343400"/>
            <a:ext cx="6217920" cy="3246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คุยกับผู้บริหารเพื่อระบุคำถามสำคัญที่ต้องการให้ข้อมูลตอบ</a:t>
            </a:r>
          </a:p>
          <a:p>
            <a:pPr algn="l" marL="292608" indent="-292608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รวบรวมข้อมูลจาก ERP หรือแหล่งอื่นที่องค์กรอนุญาต</a:t>
            </a:r>
          </a:p>
          <a:p>
            <a:pPr algn="l" marL="292608" indent="-292608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ใช้ Claude / ChatGPT ร่วมกับทีมลูกค้า ปรับการแสดงผลให้เข้าใจง่าย</a:t>
            </a:r>
          </a:p>
          <a:p>
            <a:pPr algn="l" marL="292608" indent="-292608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On-the-job Training ให้ทีมทำซ้ำและปรับปรุงเองได้</a:t>
            </a:r>
          </a:p>
          <a:p>
            <a:pPr algn="l" marL="292608" indent="-292608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สรุปผลและเสนอแนวทางต่อยอด</a:t>
            </a:r>
          </a:p>
        </p:txBody>
      </p:sp>
      <p:sp>
        <p:nvSpPr>
          <p:cNvPr id="18" name="Timeline card"/>
          <p:cNvSpPr/>
          <p:nvPr/>
        </p:nvSpPr>
        <p:spPr>
          <a:xfrm>
            <a:off x="8686800" y="3520439"/>
            <a:ext cx="6858000" cy="4160520"/>
          </a:xfrm>
          <a:prstGeom prst="roundRect">
            <a:avLst>
              <a:gd name="adj" fmla="val 5494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70332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ตัวอย่างไทม์ไลน์ (ข้อเสนอ)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4434840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วันที่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4361688"/>
            <a:ext cx="45262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อบรมปรับ Mindset 2–3 ชม. และกำหนดคำถามของผู้บริหาร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5513831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วันที่ 2–3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5440679"/>
            <a:ext cx="45262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ทำงานร่วมกับทีมลูกค้า ปรับการแสดงผลข้อมูลด้วย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6592823"/>
            <a:ext cx="15544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วันที่ 4–5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519671"/>
            <a:ext cx="45262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ทดลองใช้กับผู้บริหาร ปรับแก้ และส่งมอบ</a:t>
            </a:r>
          </a:p>
        </p:txBody>
      </p:sp>
      <p:sp>
        <p:nvSpPr>
          <p:cNvPr id="26" name="Deliverables"/>
          <p:cNvSpPr/>
          <p:nvPr/>
        </p:nvSpPr>
        <p:spPr>
          <a:xfrm>
            <a:off x="1463040" y="7909559"/>
            <a:ext cx="14081760" cy="1143000"/>
          </a:xfrm>
          <a:prstGeom prst="roundRect">
            <a:avLst>
              <a:gd name="adj" fmla="val 1999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8000999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สิ่งที่ส่งมอบ</a:t>
            </a:r>
          </a:p>
        </p:txBody>
      </p:sp>
      <p:pic>
        <p:nvPicPr>
          <p:cNvPr id="28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8257031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3440" y="8000999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Dashboard / รายงานรูปแบบใหม่สำหรับผู้บริหาร</a:t>
            </a:r>
          </a:p>
        </p:txBody>
      </p:sp>
      <p:pic>
        <p:nvPicPr>
          <p:cNvPr id="30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8257031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58200" y="8000999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วิธีการและ Prompt ที่ใช้ซ้ำได้</a:t>
            </a:r>
          </a:p>
        </p:txBody>
      </p:sp>
      <p:pic>
        <p:nvPicPr>
          <p:cNvPr id="32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5760" y="8257031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252960" y="8000999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ข้อเสนอต่อยอดสู่ AI Transformation</a:t>
            </a:r>
          </a:p>
        </p:txBody>
      </p:sp>
      <p:sp>
        <p:nvSpPr>
          <p:cNvPr id="34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แพ็กเกจ 1 ใช้เป็นจุดเริ่มต้น แล้วขยายต่อไปแพ็กเกจ 2 หรือ 3 ได้ (ข้อเสนอเพิ่มเติม)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Quick-win ให้ผู้บริหาร ภายในไม่กี่วัน</a:t>
            </a:r>
          </a:p>
        </p:txBody>
      </p:sp>
      <p:sp>
        <p:nvSpPr>
          <p:cNvPr id="12" name="Case panel"/>
          <p:cNvSpPr/>
          <p:nvPr/>
        </p:nvSpPr>
        <p:spPr>
          <a:xfrm>
            <a:off x="1463040" y="2788920"/>
            <a:ext cx="6126480" cy="6263640"/>
          </a:xfrm>
          <a:prstGeom prst="roundRect">
            <a:avLst>
              <a:gd name="adj" fmla="val 3731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83080" y="3108960"/>
            <a:ext cx="420624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องค์กร A และ B (ไม่เปิดเผยชื่อ)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49039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ไม่กี่วัน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07492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โจทย์:</a:t>
            </a: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ปรับการแสดงผลข้อมูล ERP หรือข้อมูลอื่น ให้ผู้บริหารใช้ตัดสินใจได้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เครื่องมือ:</a:t>
            </a: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Claude และ ChatGPT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วิธีการ:</a:t>
            </a: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ปรับ Mindset ผ่าน On-the-job Training จนเปลี่ยน Working Process ในบางงาน แล้วนำ AI มาทำงานร่วมกับคน</a:t>
            </a:r>
          </a:p>
        </p:txBody>
      </p:sp>
      <p:sp>
        <p:nvSpPr>
          <p:cNvPr id="16" name="Value box"/>
          <p:cNvSpPr/>
          <p:nvPr/>
        </p:nvSpPr>
        <p:spPr>
          <a:xfrm>
            <a:off x="1737360" y="7543800"/>
            <a:ext cx="557784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760780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คุณค่าที่ลูกค้าได้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7973568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ผู้บริหารเห็นข้อมูลสำหรับตัดสินใจชัดเจนขึ้น และทีมเริ่มเปลี่ยน Mindset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788920"/>
            <a:ext cx="758951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รูปแบบร่วมจากทั้ง 3 กรณี (รวม IMC)</a:t>
            </a:r>
          </a:p>
        </p:txBody>
      </p:sp>
      <p:sp>
        <p:nvSpPr>
          <p:cNvPr id="20" name="Pattern 1"/>
          <p:cNvSpPr/>
          <p:nvPr/>
        </p:nvSpPr>
        <p:spPr>
          <a:xfrm>
            <a:off x="7955280" y="3566160"/>
            <a:ext cx="7589519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dge 1"/>
          <p:cNvSpPr/>
          <p:nvPr/>
        </p:nvSpPr>
        <p:spPr>
          <a:xfrm>
            <a:off x="8183880" y="37947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566160"/>
            <a:ext cx="6172199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เริ่มจากการปรับ Mindset ของคน</a:t>
            </a:r>
          </a:p>
        </p:txBody>
      </p:sp>
      <p:sp>
        <p:nvSpPr>
          <p:cNvPr id="23" name="Pattern 2"/>
          <p:cNvSpPr/>
          <p:nvPr/>
        </p:nvSpPr>
        <p:spPr>
          <a:xfrm>
            <a:off x="7955280" y="4937760"/>
            <a:ext cx="7589519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adge 2"/>
          <p:cNvSpPr/>
          <p:nvPr/>
        </p:nvSpPr>
        <p:spPr>
          <a:xfrm>
            <a:off x="8183880" y="51663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937760"/>
            <a:ext cx="6172199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เรียนรู้จากงานจริง (On-the-job Training)</a:t>
            </a:r>
          </a:p>
        </p:txBody>
      </p:sp>
      <p:sp>
        <p:nvSpPr>
          <p:cNvPr id="26" name="Pattern 3"/>
          <p:cNvSpPr/>
          <p:nvPr/>
        </p:nvSpPr>
        <p:spPr>
          <a:xfrm>
            <a:off x="7955280" y="6309360"/>
            <a:ext cx="7589519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adge 3"/>
          <p:cNvSpPr/>
          <p:nvPr/>
        </p:nvSpPr>
        <p:spPr>
          <a:xfrm>
            <a:off x="8183880" y="65379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09360"/>
            <a:ext cx="6172199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เปลี่ยน Working Process ในบางงานก่อน</a:t>
            </a:r>
          </a:p>
        </p:txBody>
      </p:sp>
      <p:sp>
        <p:nvSpPr>
          <p:cNvPr id="29" name="Pattern 4"/>
          <p:cNvSpPr/>
          <p:nvPr/>
        </p:nvSpPr>
        <p:spPr>
          <a:xfrm>
            <a:off x="7955280" y="7680960"/>
            <a:ext cx="7589519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adge 4"/>
          <p:cNvSpPr/>
          <p:nvPr/>
        </p:nvSpPr>
        <p:spPr>
          <a:xfrm>
            <a:off x="8183880" y="79095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7680960"/>
            <a:ext cx="6172199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ให้ AI ทำงานร่วมกับคน คนยังเป็นผู้ตัดสินใจและอนุมัติ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 2: AI Transformation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292608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ประมาณ 1–2 เดือน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88920"/>
            <a:ext cx="384048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Consult ทุก 2–3 วัน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788920"/>
            <a:ext cx="694944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โครงการ 1 เดือนย่อเหลือ 4 สัปดาห์ได้</a:t>
            </a:r>
          </a:p>
        </p:txBody>
      </p:sp>
      <p:sp>
        <p:nvSpPr>
          <p:cNvPr id="15" name="Phase 1"/>
          <p:cNvSpPr/>
          <p:nvPr/>
        </p:nvSpPr>
        <p:spPr>
          <a:xfrm>
            <a:off x="1463040" y="3566160"/>
            <a:ext cx="2651760" cy="5486400"/>
          </a:xfrm>
          <a:prstGeom prst="roundRect">
            <a:avLst>
              <a:gd name="adj" fmla="val 862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adge 1"/>
          <p:cNvSpPr/>
          <p:nvPr/>
        </p:nvSpPr>
        <p:spPr>
          <a:xfrm>
            <a:off x="1691640" y="3794760"/>
            <a:ext cx="685800" cy="68580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7200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Kick-off และปรับ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669279"/>
            <a:ext cx="2194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 2–3 ชม. ตัวอย่างจริงจาก IMC เลือกงานที่จะเริ่ม</a:t>
            </a:r>
          </a:p>
        </p:txBody>
      </p:sp>
      <p:sp>
        <p:nvSpPr>
          <p:cNvPr id="19" name="Outcome 1"/>
          <p:cNvSpPr/>
          <p:nvPr/>
        </p:nvSpPr>
        <p:spPr>
          <a:xfrm>
            <a:off x="1600200" y="7452360"/>
            <a:ext cx="2377440" cy="1463040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75163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7863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ได้รายการงานที่จะทำ Bots</a:t>
            </a:r>
          </a:p>
        </p:txBody>
      </p:sp>
      <p:sp>
        <p:nvSpPr>
          <p:cNvPr id="22" name="Phase 2"/>
          <p:cNvSpPr/>
          <p:nvPr/>
        </p:nvSpPr>
        <p:spPr>
          <a:xfrm>
            <a:off x="4320540" y="3566160"/>
            <a:ext cx="2651760" cy="5486400"/>
          </a:xfrm>
          <a:prstGeom prst="roundRect">
            <a:avLst>
              <a:gd name="adj" fmla="val 862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dge 2"/>
          <p:cNvSpPr/>
          <p:nvPr/>
        </p:nvSpPr>
        <p:spPr>
          <a:xfrm>
            <a:off x="4549140" y="3794760"/>
            <a:ext cx="685800" cy="68580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40" y="457200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สำรวจ Business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9140" y="5669279"/>
            <a:ext cx="2194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ทำแผนผังขั้นตอนงานปัจจุบัน ระบุงานซ้ำและจุดที่ต้องให้คนอนุมัติ</a:t>
            </a:r>
          </a:p>
        </p:txBody>
      </p:sp>
      <p:sp>
        <p:nvSpPr>
          <p:cNvPr id="26" name="Outcome 2"/>
          <p:cNvSpPr/>
          <p:nvPr/>
        </p:nvSpPr>
        <p:spPr>
          <a:xfrm>
            <a:off x="4457700" y="7452360"/>
            <a:ext cx="2377440" cy="1463040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4859" y="75163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859" y="7863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แผนผังกระบวนการเดิมและใหม่</a:t>
            </a:r>
          </a:p>
        </p:txBody>
      </p:sp>
      <p:sp>
        <p:nvSpPr>
          <p:cNvPr id="29" name="Phase 3"/>
          <p:cNvSpPr/>
          <p:nvPr/>
        </p:nvSpPr>
        <p:spPr>
          <a:xfrm>
            <a:off x="7178040" y="3566160"/>
            <a:ext cx="2651760" cy="5486400"/>
          </a:xfrm>
          <a:prstGeom prst="roundRect">
            <a:avLst>
              <a:gd name="adj" fmla="val 862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adge 3"/>
          <p:cNvSpPr/>
          <p:nvPr/>
        </p:nvSpPr>
        <p:spPr>
          <a:xfrm>
            <a:off x="7406640" y="3794760"/>
            <a:ext cx="685800" cy="68580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57200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สร้าง Bots ร่วมกัน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669279"/>
            <a:ext cx="2194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Consult ทุก 2–3 วัน สร้าง Bots ทีละงาน ทดลองและปรับแก้</a:t>
            </a:r>
          </a:p>
        </p:txBody>
      </p:sp>
      <p:sp>
        <p:nvSpPr>
          <p:cNvPr id="33" name="Outcome 3"/>
          <p:cNvSpPr/>
          <p:nvPr/>
        </p:nvSpPr>
        <p:spPr>
          <a:xfrm>
            <a:off x="7315200" y="7452360"/>
            <a:ext cx="2377440" cy="1463040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75163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7863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Bots ชุดแรกที่ใช้งานจริง</a:t>
            </a:r>
          </a:p>
        </p:txBody>
      </p:sp>
      <p:sp>
        <p:nvSpPr>
          <p:cNvPr id="36" name="Phase 4"/>
          <p:cNvSpPr/>
          <p:nvPr/>
        </p:nvSpPr>
        <p:spPr>
          <a:xfrm>
            <a:off x="10035540" y="3566160"/>
            <a:ext cx="2651760" cy="5486400"/>
          </a:xfrm>
          <a:prstGeom prst="roundRect">
            <a:avLst>
              <a:gd name="adj" fmla="val 862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adge 4"/>
          <p:cNvSpPr/>
          <p:nvPr/>
        </p:nvSpPr>
        <p:spPr>
          <a:xfrm>
            <a:off x="10264140" y="3794760"/>
            <a:ext cx="685800" cy="68580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4140" y="457200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ขยายผลและ สร้างวัฒนธรรม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4140" y="5669279"/>
            <a:ext cx="2194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ขยายไปฝ่ายอื่น ทีมลูกค้าสร้างเอง IMC เป็นพี่เลี้ยง</a:t>
            </a:r>
          </a:p>
        </p:txBody>
      </p:sp>
      <p:sp>
        <p:nvSpPr>
          <p:cNvPr id="40" name="Outcome 4"/>
          <p:cNvSpPr/>
          <p:nvPr/>
        </p:nvSpPr>
        <p:spPr>
          <a:xfrm>
            <a:off x="10172700" y="7452360"/>
            <a:ext cx="2377440" cy="1463040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9860" y="75163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9860" y="7863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ทีมสร้างและดูแล Bots ได้เอง</a:t>
            </a:r>
          </a:p>
        </p:txBody>
      </p:sp>
      <p:sp>
        <p:nvSpPr>
          <p:cNvPr id="43" name="Phase 5"/>
          <p:cNvSpPr/>
          <p:nvPr/>
        </p:nvSpPr>
        <p:spPr>
          <a:xfrm>
            <a:off x="12893040" y="3566160"/>
            <a:ext cx="2651760" cy="5486400"/>
          </a:xfrm>
          <a:prstGeom prst="roundRect">
            <a:avLst>
              <a:gd name="adj" fmla="val 862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adge 5"/>
          <p:cNvSpPr/>
          <p:nvPr/>
        </p:nvSpPr>
        <p:spPr>
          <a:xfrm>
            <a:off x="13121640" y="3794760"/>
            <a:ext cx="685800" cy="68580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21640" y="457200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ส่งมอบและ วางแผนต่อ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21640" y="5669279"/>
            <a:ext cx="2194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สรุปผล วัด KPI ส่งมอบเอกสาร และวางแผนระยะต่อไป</a:t>
            </a:r>
          </a:p>
        </p:txBody>
      </p:sp>
      <p:sp>
        <p:nvSpPr>
          <p:cNvPr id="47" name="Outcome 5"/>
          <p:cNvSpPr/>
          <p:nvPr/>
        </p:nvSpPr>
        <p:spPr>
          <a:xfrm>
            <a:off x="13030200" y="7452360"/>
            <a:ext cx="2377440" cy="1463040"/>
          </a:xfrm>
          <a:prstGeom prst="roundRect">
            <a:avLst>
              <a:gd name="adj" fmla="val 15625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67360" y="75163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ผลลัพธ์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67360" y="7863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รายงานสรุปและแผนต่อยอด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ตัวอย่างไทม์ไลน์ 8 สัปดาห์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1151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1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34472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68911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03352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37792" y="2788920"/>
            <a:ext cx="1179576" cy="54864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7889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Phase / สัปดาห์</a:t>
            </a:r>
          </a:p>
        </p:txBody>
      </p:sp>
      <p:sp>
        <p:nvSpPr>
          <p:cNvPr id="21" name="Row 1"/>
          <p:cNvSpPr/>
          <p:nvPr/>
        </p:nvSpPr>
        <p:spPr>
          <a:xfrm>
            <a:off x="1463040" y="3474720"/>
            <a:ext cx="14081760" cy="603504"/>
          </a:xfrm>
          <a:prstGeom prst="roundRect">
            <a:avLst>
              <a:gd name="adj" fmla="val 227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474720"/>
            <a:ext cx="4023359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1  Kick-off และ Mindset</a:t>
            </a:r>
          </a:p>
        </p:txBody>
      </p:sp>
      <p:sp>
        <p:nvSpPr>
          <p:cNvPr id="23" name="Bar 1"/>
          <p:cNvSpPr/>
          <p:nvPr/>
        </p:nvSpPr>
        <p:spPr>
          <a:xfrm>
            <a:off x="5714999" y="3529584"/>
            <a:ext cx="1143000" cy="493776"/>
          </a:xfrm>
          <a:prstGeom prst="roundRect">
            <a:avLst>
              <a:gd name="adj" fmla="val 27777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Kick-off</a:t>
            </a:r>
          </a:p>
        </p:txBody>
      </p:sp>
      <p:sp>
        <p:nvSpPr>
          <p:cNvPr id="24" name="Row 2"/>
          <p:cNvSpPr/>
          <p:nvPr/>
        </p:nvSpPr>
        <p:spPr>
          <a:xfrm>
            <a:off x="1463040" y="4187952"/>
            <a:ext cx="14081760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187952"/>
            <a:ext cx="4023359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2  สำรวจ Business Process</a:t>
            </a:r>
          </a:p>
        </p:txBody>
      </p:sp>
      <p:sp>
        <p:nvSpPr>
          <p:cNvPr id="26" name="Bar 2"/>
          <p:cNvSpPr/>
          <p:nvPr/>
        </p:nvSpPr>
        <p:spPr>
          <a:xfrm>
            <a:off x="5714999" y="4242816"/>
            <a:ext cx="2377440" cy="493776"/>
          </a:xfrm>
          <a:prstGeom prst="roundRect">
            <a:avLst>
              <a:gd name="adj" fmla="val 27777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As-is / To-be</a:t>
            </a:r>
          </a:p>
        </p:txBody>
      </p:sp>
      <p:sp>
        <p:nvSpPr>
          <p:cNvPr id="27" name="Row 3"/>
          <p:cNvSpPr/>
          <p:nvPr/>
        </p:nvSpPr>
        <p:spPr>
          <a:xfrm>
            <a:off x="1463040" y="4901183"/>
            <a:ext cx="14081760" cy="603504"/>
          </a:xfrm>
          <a:prstGeom prst="roundRect">
            <a:avLst>
              <a:gd name="adj" fmla="val 227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4901183"/>
            <a:ext cx="4023359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3  สร้าง Bots ร่วมกัน</a:t>
            </a:r>
          </a:p>
        </p:txBody>
      </p:sp>
      <p:sp>
        <p:nvSpPr>
          <p:cNvPr id="29" name="Bar 3"/>
          <p:cNvSpPr/>
          <p:nvPr/>
        </p:nvSpPr>
        <p:spPr>
          <a:xfrm>
            <a:off x="6949439" y="4956047"/>
            <a:ext cx="3611880" cy="493776"/>
          </a:xfrm>
          <a:prstGeom prst="roundRect">
            <a:avLst>
              <a:gd name="adj" fmla="val 27777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สร้าง · ทดลอง · ปรับแก้</a:t>
            </a:r>
          </a:p>
        </p:txBody>
      </p:sp>
      <p:sp>
        <p:nvSpPr>
          <p:cNvPr id="30" name="Row 4"/>
          <p:cNvSpPr/>
          <p:nvPr/>
        </p:nvSpPr>
        <p:spPr>
          <a:xfrm>
            <a:off x="1463040" y="5614416"/>
            <a:ext cx="14081760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614416"/>
            <a:ext cx="4023359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4  ขยายผล สร้างวัฒนธรรม</a:t>
            </a:r>
          </a:p>
        </p:txBody>
      </p:sp>
      <p:sp>
        <p:nvSpPr>
          <p:cNvPr id="32" name="Bar 4"/>
          <p:cNvSpPr/>
          <p:nvPr/>
        </p:nvSpPr>
        <p:spPr>
          <a:xfrm>
            <a:off x="9418320" y="5669279"/>
            <a:ext cx="3611880" cy="493776"/>
          </a:xfrm>
          <a:prstGeom prst="roundRect">
            <a:avLst>
              <a:gd name="adj" fmla="val 27777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ขยาย · ทีมสร้างเอง</a:t>
            </a:r>
          </a:p>
        </p:txBody>
      </p:sp>
      <p:sp>
        <p:nvSpPr>
          <p:cNvPr id="33" name="Row 5"/>
          <p:cNvSpPr/>
          <p:nvPr/>
        </p:nvSpPr>
        <p:spPr>
          <a:xfrm>
            <a:off x="1463040" y="6327648"/>
            <a:ext cx="14081760" cy="603504"/>
          </a:xfrm>
          <a:prstGeom prst="roundRect">
            <a:avLst>
              <a:gd name="adj" fmla="val 227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6327648"/>
            <a:ext cx="4023359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5  ส่งมอบ วางแผนต่อ</a:t>
            </a:r>
          </a:p>
        </p:txBody>
      </p:sp>
      <p:sp>
        <p:nvSpPr>
          <p:cNvPr id="35" name="Bar 5"/>
          <p:cNvSpPr/>
          <p:nvPr/>
        </p:nvSpPr>
        <p:spPr>
          <a:xfrm>
            <a:off x="13121640" y="6382512"/>
            <a:ext cx="2377440" cy="493776"/>
          </a:xfrm>
          <a:prstGeom prst="roundRect">
            <a:avLst>
              <a:gd name="adj" fmla="val 27777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KPI · คู่มือ · ส่งมอบ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7086600"/>
            <a:ext cx="1408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ตัวอย่างจากแผนรายสัปดาห์ (ข้อเสนอ) · โครงการ 1 เดือนย่อเหลือ 4 สัปดาห์ โดยลดจำนวนงานและฝ่ายที่ขยายผล</a:t>
            </a:r>
          </a:p>
        </p:txBody>
      </p:sp>
      <p:sp>
        <p:nvSpPr>
          <p:cNvPr id="37" name="Deliverables"/>
          <p:cNvSpPr/>
          <p:nvPr/>
        </p:nvSpPr>
        <p:spPr>
          <a:xfrm>
            <a:off x="1463040" y="7589520"/>
            <a:ext cx="14081760" cy="1463039"/>
          </a:xfrm>
          <a:prstGeom prst="roundRect">
            <a:avLst>
              <a:gd name="adj" fmla="val 15625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37360" y="7744968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สิ่งที่ส่งมอบ</a:t>
            </a:r>
          </a:p>
        </p:txBody>
      </p:sp>
      <p:pic>
        <p:nvPicPr>
          <p:cNvPr id="39" name="Icon Bot" descr="Bo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8412480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377440" y="8302752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Bots ใช้งานจริง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พร้อมจุดอนุมัติ</a:t>
            </a:r>
          </a:p>
        </p:txBody>
      </p:sp>
      <p:pic>
        <p:nvPicPr>
          <p:cNvPr id="41" name="Icon Network" descr="Networ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8412480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20640" y="8302752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แผนผังกระบวนการ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As-is / To-be</a:t>
            </a:r>
          </a:p>
        </p:txBody>
      </p:sp>
      <p:pic>
        <p:nvPicPr>
          <p:cNvPr id="43" name="Icon FileText" descr="FileTex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760" y="841248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63840" y="8302752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คู่มือใช้งาน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และดูแล Bots</a:t>
            </a:r>
          </a:p>
        </p:txBody>
      </p:sp>
      <p:pic>
        <p:nvPicPr>
          <p:cNvPr id="45" name="Icon UserCheck" descr="UserCheck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0" y="841248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607040" y="8302752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ทีมภายในที่สร้าง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Bots ได้เอง</a:t>
            </a:r>
          </a:p>
        </p:txBody>
      </p:sp>
      <p:pic>
        <p:nvPicPr>
          <p:cNvPr id="47" name="Icon ChartColumn" descr="ChartColumn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10160" y="841248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350240" y="8302752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รายงาน KPI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และแผนต่อยอด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ใครทำอะไร: ทีมลูกค้า × IMC</a:t>
            </a:r>
          </a:p>
        </p:txBody>
      </p:sp>
      <p:graphicFrame>
        <p:nvGraphicFramePr>
          <p:cNvPr id="12" name="Roles table"/>
          <p:cNvGraphicFramePr>
            <a:graphicFrameLocks noGrp="1"/>
          </p:cNvGraphicFramePr>
          <p:nvPr/>
        </p:nvGraphicFramePr>
        <p:xfrm>
          <a:off x="1463040" y="2788920"/>
          <a:ext cx="14081760" cy="6217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/>
                <a:gridCol w="5120640"/>
                <a:gridCol w="4937760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บทบาท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ทีมลูกค้า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IMC Institute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</a:tr>
              <a:tr h="11155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ผู้บริหาร (Sponsor)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กำหนดเป้าหมาย อนุมัติขอบเขตและการเข้าถึงข้อมูล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นำเสนอแนวทาง รายงานความคืบหน้าและผลลัพธ์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ผู้ประสานงาน / Project Owner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ประสานงานภายใน นัดหมาย และติดตามงาน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วางแผนโครงการ และจัดตาราง Consult ทุก 2–3 วัน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11155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ผู้ใช้งานในฝ่าย (Process Owner)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ให้ข้อมูลขั้นตอนงาน ทดลองใช้ Bots และอนุมัติงานก่อนส่งออก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อบรม ออกแบบ และสร้าง Bots ร่วมกับผู้ใช้งาน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ฝ่าย IT / ผู้ดูแลระบบ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อนุญาตการเชื่อมต่อระบบ ดูแลสิทธิ์และความปลอดภัยของข้อมูล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ให้คำแนะนำด้านการเชื่อมต่อและการตั้งค่าที่ปลอดภัย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11155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แชมเปี้ยน AI ภายใน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เรียนรู้เชิงลึกเพื่อสร้างและดูแล Bots ต่อหลังจบโครงการ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เป็นพี่เลี้ยงและถ่ายทอดวิธีการ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เป้าหมายคือให้ทีมลูกค้าคิดและสร้าง Bots ต่อเองได้ โดยมี IMC เป็นพี่เลี้ยง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 3: Bot ทำงานแทนคน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448056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ส่งมอบ bot ที่ใช้งานได้เลย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2788920"/>
            <a:ext cx="402336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คนอนุมัติก่อนส่งออก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19" y="2788920"/>
            <a:ext cx="4572000" cy="502920"/>
          </a:xfrm>
          <a:prstGeom prst="roundRect">
            <a:avLst>
              <a:gd name="adj" fmla="val 45454"/>
            </a:avLst>
          </a:prstGeom>
          <a:solidFill>
            <a:srgbClr val="F3F5F7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เชื่อมระบบที่ใช้อยู่แล้ว</a:t>
            </a:r>
          </a:p>
        </p:txBody>
      </p:sp>
      <p:sp>
        <p:nvSpPr>
          <p:cNvPr id="15" name="Tier 1"/>
          <p:cNvSpPr/>
          <p:nvPr/>
        </p:nvSpPr>
        <p:spPr>
          <a:xfrm>
            <a:off x="1463040" y="3566160"/>
            <a:ext cx="4480560" cy="3749039"/>
          </a:xfrm>
          <a:prstGeom prst="roundRect">
            <a:avLst>
              <a:gd name="adj" fmla="val 609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adge Rocket"/>
          <p:cNvSpPr/>
          <p:nvPr/>
        </p:nvSpPr>
        <p:spPr>
          <a:xfrm>
            <a:off x="1737360" y="384048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Icon Rocket" descr="Rocke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0" y="4023360"/>
            <a:ext cx="365760" cy="365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697480" y="3931920"/>
            <a:ext cx="2971800" cy="548640"/>
          </a:xfrm>
          <a:prstGeom prst="roundRect">
            <a:avLst>
              <a:gd name="adj" fmla="val 41666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1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548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Bot Starter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34924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เริ่มจากงานซ้ำที่เห็นผลเร็ว เช่น อีเมลลงทะเบียน → บันทึก CRM → ร่างใบเสนอราคา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64922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 1 ตัว พร้อมจุดอนุมัติ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คู่มือและอบรมผู้ใช้</a:t>
            </a:r>
          </a:p>
        </p:txBody>
      </p:sp>
      <p:sp>
        <p:nvSpPr>
          <p:cNvPr id="22" name="Tier 2"/>
          <p:cNvSpPr/>
          <p:nvPr/>
        </p:nvSpPr>
        <p:spPr>
          <a:xfrm>
            <a:off x="6263640" y="3566160"/>
            <a:ext cx="4480560" cy="3749039"/>
          </a:xfrm>
          <a:prstGeom prst="roundRect">
            <a:avLst>
              <a:gd name="adj" fmla="val 609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dge Boxes"/>
          <p:cNvSpPr/>
          <p:nvPr/>
        </p:nvSpPr>
        <p:spPr>
          <a:xfrm>
            <a:off x="6537959" y="384048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Icon Boxes" descr="Boxes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4023360"/>
            <a:ext cx="365760" cy="3657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498079" y="3931920"/>
            <a:ext cx="2971800" cy="548640"/>
          </a:xfrm>
          <a:prstGeom prst="roundRect">
            <a:avLst>
              <a:gd name="adj" fmla="val 41666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3–5 bots ต่อฝ่าย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47548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Department Bot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534924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ชุด bot ตามหน้าที่ เช่น ขาย/ลูกค้า การเงิน การตลาด หลักสูตร เชื่อมต่อกันเป็น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64922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Bots 3–5 ตัว + Flow เชื่อมกัน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แผนผังงานเดิมและใหม่</a:t>
            </a:r>
          </a:p>
        </p:txBody>
      </p:sp>
      <p:sp>
        <p:nvSpPr>
          <p:cNvPr id="29" name="Tier 3"/>
          <p:cNvSpPr/>
          <p:nvPr/>
        </p:nvSpPr>
        <p:spPr>
          <a:xfrm>
            <a:off x="11064240" y="3566160"/>
            <a:ext cx="4480560" cy="3749039"/>
          </a:xfrm>
          <a:prstGeom prst="roundRect">
            <a:avLst>
              <a:gd name="adj" fmla="val 609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adge Repeat"/>
          <p:cNvSpPr/>
          <p:nvPr/>
        </p:nvSpPr>
        <p:spPr>
          <a:xfrm>
            <a:off x="11338560" y="384048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Icon Repeat" descr="Repeat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21440" y="4023360"/>
            <a:ext cx="365760" cy="3657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298680" y="3931920"/>
            <a:ext cx="2971800" cy="548640"/>
          </a:xfrm>
          <a:prstGeom prst="roundRect">
            <a:avLst>
              <a:gd name="adj" fmla="val 41666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รายเดือน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47548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Bot Care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534924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ดูแล ปรับปรุง และเพิ่ม bot อย่างต่อเนื่อง ทบทวนการทำงานของ bots สม่ำเสมอ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ปรับแก้ตามงานจริง</a:t>
            </a:r>
          </a:p>
          <a:p>
            <a:pPr algn="l" marL="292608" indent="-292608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>
                <a:srgbClr val="FFBC00"/>
              </a:buClr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รายงานการใช้งานประจำเดือน</a:t>
            </a:r>
          </a:p>
        </p:txBody>
      </p:sp>
      <p:sp>
        <p:nvSpPr>
          <p:cNvPr id="36" name="Compare strip"/>
          <p:cNvSpPr/>
          <p:nvPr/>
        </p:nvSpPr>
        <p:spPr>
          <a:xfrm>
            <a:off x="1463040" y="7543800"/>
            <a:ext cx="14081760" cy="1508760"/>
          </a:xfrm>
          <a:prstGeom prst="roundRect">
            <a:avLst>
              <a:gd name="adj" fmla="val 15151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37360" y="76992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ต่างจากแพ็กเกจ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827532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แพ็กเกจ 2 · AI Transformation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สอนและสร้างร่วมกัน ให้ทีมลูกค้าสร้าง Bots ต่อเองได้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8275320"/>
            <a:ext cx="6492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แพ็กเกจ 3 · Bot ทำงานแทนคน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IMC ส่งมอบ bot ที่ใช้งานได้เลย ต่อยอดไปแพ็กเกจ 2 ได้</a:t>
            </a:r>
          </a:p>
        </p:txBody>
      </p:sp>
      <p:sp>
        <p:nvSpPr>
          <p:cNvPr id="40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ขอบเขตและจำนวน bots เป็นข้อเสนอ ปรับตามงานของลูกค้า · ดูตัวอย่าง 23 bots ที่ IMC ใช้เองในสไลด์ถัดไป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IMC ทำเองมาแล้ว: 23 Bots ทำงานจริง</a:t>
            </a:r>
          </a:p>
        </p:txBody>
      </p:sp>
      <p:sp>
        <p:nvSpPr>
          <p:cNvPr id="12" name="Stat panel"/>
          <p:cNvSpPr/>
          <p:nvPr/>
        </p:nvSpPr>
        <p:spPr>
          <a:xfrm>
            <a:off x="1463040" y="2788920"/>
            <a:ext cx="4297680" cy="6263640"/>
          </a:xfrm>
          <a:prstGeom prst="roundRect">
            <a:avLst>
              <a:gd name="adj" fmla="val 531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063239"/>
            <a:ext cx="3749040" cy="2103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212079"/>
            <a:ext cx="37490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9436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ใช้งานจริงทุกฝ่ายใน IMC Institute แบ่งตามหน้าที่งาน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7040880"/>
            <a:ext cx="3383280" cy="0"/>
          </a:xfrm>
          <a:prstGeom prst="line">
            <a:avLst/>
          </a:prstGeom>
          <a:ln w="19050">
            <a:solidFill>
              <a:srgbClr val="6B9BB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828800" y="7223759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ระบบที่ Bots ทำงานร่วมด้วย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7635240"/>
            <a:ext cx="356616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Gmail · Salesforce · FlowAccount · Google Drive/Sheets · Canva · LINE OA</a:t>
            </a:r>
          </a:p>
        </p:txBody>
      </p:sp>
      <p:sp>
        <p:nvSpPr>
          <p:cNvPr id="19" name="Dept ผู้บริหาร"/>
          <p:cNvSpPr/>
          <p:nvPr/>
        </p:nvSpPr>
        <p:spPr>
          <a:xfrm>
            <a:off x="6080760" y="2788920"/>
            <a:ext cx="9464040" cy="868680"/>
          </a:xfrm>
          <a:prstGeom prst="roundRect">
            <a:avLst>
              <a:gd name="adj" fmla="val 2631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898648"/>
            <a:ext cx="2057400" cy="649224"/>
          </a:xfrm>
          <a:prstGeom prst="roundRect">
            <a:avLst>
              <a:gd name="adj" fmla="val 28169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ผู้บริหาร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1 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926079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COO</a:t>
            </a:r>
          </a:p>
        </p:txBody>
      </p:sp>
      <p:sp>
        <p:nvSpPr>
          <p:cNvPr id="22" name="Dept ลูกค้า"/>
          <p:cNvSpPr/>
          <p:nvPr/>
        </p:nvSpPr>
        <p:spPr>
          <a:xfrm>
            <a:off x="6080760" y="3813048"/>
            <a:ext cx="9464040" cy="1298448"/>
          </a:xfrm>
          <a:prstGeom prst="roundRect">
            <a:avLst>
              <a:gd name="adj" fmla="val 1760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922776"/>
            <a:ext cx="2057400" cy="1078992"/>
          </a:xfrm>
          <a:prstGeom prst="roundRect">
            <a:avLst>
              <a:gd name="adj" fmla="val 16949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ลูกค้า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6 bots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950208"/>
            <a:ext cx="94183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Zoom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3950208"/>
            <a:ext cx="10744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Gmail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39628" y="3950208"/>
            <a:ext cx="213512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LINE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0" y="3950208"/>
            <a:ext cx="14721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Calendar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517136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Salesforce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51008" y="4517136"/>
            <a:ext cx="133959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LINE OA</a:t>
            </a:r>
          </a:p>
        </p:txBody>
      </p:sp>
      <p:sp>
        <p:nvSpPr>
          <p:cNvPr id="30" name="Dept การตลาด"/>
          <p:cNvSpPr/>
          <p:nvPr/>
        </p:nvSpPr>
        <p:spPr>
          <a:xfrm>
            <a:off x="6080760" y="5266944"/>
            <a:ext cx="9464040" cy="1298448"/>
          </a:xfrm>
          <a:prstGeom prst="roundRect">
            <a:avLst>
              <a:gd name="adj" fmla="val 1760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5376672"/>
            <a:ext cx="2057400" cy="1078992"/>
          </a:xfrm>
          <a:prstGeom prst="roundRect">
            <a:avLst>
              <a:gd name="adj" fmla="val 16949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การตลาด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8 bots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5404104"/>
            <a:ext cx="160477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Marketing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18420" y="5404104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VDO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51108" y="5404104"/>
            <a:ext cx="133959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Webinar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00432" y="5404104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EDM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533120" y="5404104"/>
            <a:ext cx="133959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Graphic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5971032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Social Media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16184" y="5971032"/>
            <a:ext cx="10744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Canva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00332" y="5971032"/>
            <a:ext cx="133959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Content</a:t>
            </a:r>
          </a:p>
        </p:txBody>
      </p:sp>
      <p:sp>
        <p:nvSpPr>
          <p:cNvPr id="40" name="Dept หลักสูตร"/>
          <p:cNvSpPr/>
          <p:nvPr/>
        </p:nvSpPr>
        <p:spPr>
          <a:xfrm>
            <a:off x="6080760" y="6720840"/>
            <a:ext cx="9464040" cy="1298448"/>
          </a:xfrm>
          <a:prstGeom prst="roundRect">
            <a:avLst>
              <a:gd name="adj" fmla="val 1760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17920" y="6830568"/>
            <a:ext cx="2057400" cy="1078992"/>
          </a:xfrm>
          <a:prstGeom prst="roundRect">
            <a:avLst>
              <a:gd name="adj" fmla="val 16949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หลักสูตร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5 bots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685800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Public Class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16184" y="685800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Google Drive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728448" y="68580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Web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7424927"/>
            <a:ext cx="22677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Course Outline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81360" y="7424927"/>
            <a:ext cx="147218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In-House</a:t>
            </a:r>
          </a:p>
        </p:txBody>
      </p:sp>
      <p:sp>
        <p:nvSpPr>
          <p:cNvPr id="47" name="Dept การเงิน"/>
          <p:cNvSpPr/>
          <p:nvPr/>
        </p:nvSpPr>
        <p:spPr>
          <a:xfrm>
            <a:off x="6080760" y="8174736"/>
            <a:ext cx="9464040" cy="868680"/>
          </a:xfrm>
          <a:prstGeom prst="roundRect">
            <a:avLst>
              <a:gd name="adj" fmla="val 26315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7920" y="8284463"/>
            <a:ext cx="2057400" cy="649224"/>
          </a:xfrm>
          <a:prstGeom prst="roundRect">
            <a:avLst>
              <a:gd name="adj" fmla="val 28169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การเงิน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3 bots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8311896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Accounting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51008" y="8311896"/>
            <a:ext cx="186994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FlowAccount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30684" y="8311896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2D9"/>
            </a:solidFill>
          </a:ln>
        </p:spPr>
        <p:txBody>
          <a:bodyPr rtlCol="0" anchor="ctr" wrap="square" lIns="45720" tIns="0" rIns="457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Petty Cash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Flow จริง: AI ร่าง คนอนุมัติ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70632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770632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AI ทำงาน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770632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FFF3CC"/>
          </a:solidFill>
          <a:ln w="25400">
            <a:solidFill>
              <a:srgbClr val="003D60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คนอนุมัติ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10128"/>
            <a:ext cx="1408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1  ลงทะเบียนใหม่ → ใบเสนอราคา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767328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อีเมล New Register เข้ามา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79" y="4430268"/>
            <a:ext cx="480061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11980" y="3767328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บันทึกข้อมูลใน Salesforce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89420" y="4430268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7360920" y="3767328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ออกใบเสนอราคา (FlowAccount)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38360" y="4430268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10309860" y="3767328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ร่างอีเมลตอบกลับ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687300" y="4430268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4" name="Human approval"/>
          <p:cNvSpPr/>
          <p:nvPr/>
        </p:nvSpPr>
        <p:spPr>
          <a:xfrm>
            <a:off x="13258800" y="3767328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F3CC"/>
          </a:solidFill>
          <a:ln w="28575">
            <a:solidFill>
              <a:srgbClr val="003D6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Icon UserCheck" descr="User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3200" y="3877056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350240" y="436168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คนตรวจและอนุมัติ ก่อนส่ง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349240"/>
            <a:ext cx="1408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2  ชำระเงิน → ใบเสร็จ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5806440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ได้รับหลักฐานการชำระเงิน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40479" y="6469379"/>
            <a:ext cx="480061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4411980" y="5806440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ออกใบเสร็จ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89420" y="6469379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7360920" y="5806440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ปรับสถานะเป็น Paid ใน Salesforce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38360" y="6469379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34" name="Rounded Rectangle 33"/>
          <p:cNvSpPr/>
          <p:nvPr/>
        </p:nvSpPr>
        <p:spPr>
          <a:xfrm>
            <a:off x="10309860" y="5806440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ร่างอีเมลตอบกลับ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687300" y="6469379"/>
            <a:ext cx="48006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36" name="Human approval"/>
          <p:cNvSpPr/>
          <p:nvPr/>
        </p:nvSpPr>
        <p:spPr>
          <a:xfrm>
            <a:off x="13258800" y="5806440"/>
            <a:ext cx="2286000" cy="1325880"/>
          </a:xfrm>
          <a:prstGeom prst="roundRect">
            <a:avLst>
              <a:gd name="adj" fmla="val 17241"/>
            </a:avLst>
          </a:prstGeom>
          <a:solidFill>
            <a:srgbClr val="FFF3CC"/>
          </a:solidFill>
          <a:ln w="28575">
            <a:solidFill>
              <a:srgbClr val="003D6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 UserCheck" descr="User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3200" y="5916168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350240" y="64008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คนตรวจและอนุมัติ ก่อนส่ง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7388352"/>
            <a:ext cx="1408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3  ค่าใช้จ่าย และงานประจำรายวัน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7845552"/>
            <a:ext cx="2286000" cy="1188720"/>
          </a:xfrm>
          <a:prstGeom prst="roundRect">
            <a:avLst>
              <a:gd name="adj" fmla="val 19230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09728" tIns="0" rIns="109728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ได้รับใบแจ้งหนี้จากผู้ขาย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40480" y="8439912"/>
            <a:ext cx="548640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4480560" y="7845552"/>
            <a:ext cx="2286000" cy="1188720"/>
          </a:xfrm>
          <a:prstGeom prst="roundRect">
            <a:avLst>
              <a:gd name="adj" fmla="val 1923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บันทึกค่าใช้จ่าย</a:t>
            </a:r>
          </a:p>
        </p:txBody>
      </p:sp>
      <p:sp>
        <p:nvSpPr>
          <p:cNvPr id="43" name="Daily tasks"/>
          <p:cNvSpPr/>
          <p:nvPr/>
        </p:nvSpPr>
        <p:spPr>
          <a:xfrm>
            <a:off x="7315200" y="7845552"/>
            <a:ext cx="8229600" cy="1188720"/>
          </a:xfrm>
          <a:prstGeom prst="roundRect">
            <a:avLst>
              <a:gd name="adj" fmla="val 1923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7955279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งานประจำอื่น 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834847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สรุปอีเมลประจำวัน · รายงานสถานะ Public Class · จัดทำและสรุปผลแบบประเมิน</a:t>
            </a:r>
          </a:p>
        </p:txBody>
      </p:sp>
      <p:sp>
        <p:nvSpPr>
          <p:cNvPr id="46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บทเรียน: เริ่มจากงานจริงที่ซ้ำ ๆ และเชื่อมระบบที่ใช้อยู่แล้ว ทำให้ AI ทำงานร่วมกับคนได้ทุกฝ่าย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 4: IMC Chat</a:t>
            </a:r>
          </a:p>
        </p:txBody>
      </p:sp>
      <p:sp>
        <p:nvSpPr>
          <p:cNvPr id="12" name="Mascot backdrop"/>
          <p:cNvSpPr/>
          <p:nvPr/>
        </p:nvSpPr>
        <p:spPr>
          <a:xfrm>
            <a:off x="1463040" y="2788920"/>
            <a:ext cx="4206240" cy="3291840"/>
          </a:xfrm>
          <a:prstGeom prst="roundRect">
            <a:avLst>
              <a:gd name="adj" fmla="val 6944"/>
            </a:avLst>
          </a:prstGeom>
          <a:solidFill>
            <a:srgbClr val="D8D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masc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6303" y="2788920"/>
            <a:ext cx="3379712" cy="3291840"/>
          </a:xfrm>
          <a:prstGeom prst="roundRect">
            <a:avLst>
              <a:gd name="adj" fmla="val 8000"/>
            </a:avLst>
          </a:prstGeom>
        </p:spPr>
      </p:pic>
      <p:sp>
        <p:nvSpPr>
          <p:cNvPr id="14" name="Editions"/>
          <p:cNvSpPr/>
          <p:nvPr/>
        </p:nvSpPr>
        <p:spPr>
          <a:xfrm>
            <a:off x="1463040" y="6263640"/>
            <a:ext cx="4206240" cy="2788920"/>
          </a:xfrm>
          <a:prstGeom prst="roundRect">
            <a:avLst>
              <a:gd name="adj" fmla="val 8196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6400800"/>
            <a:ext cx="365759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2 รูปแบบให้เลือก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6903720"/>
            <a:ext cx="3657599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ใช้ร่วม (Shared)</a:t>
            </a: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เริ่มได้เร็ว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แยกของตัวเอง (Dedicated)</a:t>
            </a: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โดเมน SSO และ Widget ของคุณ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FD3E0"/>
                </a:solidFill>
                <a:latin typeface="Poppins"/>
                <a:ea typeface="Poppins"/>
                <a:cs typeface="Tahoma"/>
              </a:rPr>
              <a:t>พัฒนาและใช้งานจริงกับหน่วยงานภาครัฐด้านการค้า</a:t>
            </a:r>
          </a:p>
        </p:txBody>
      </p:sp>
      <p:sp>
        <p:nvSpPr>
          <p:cNvPr id="17" name="Feature 1"/>
          <p:cNvSpPr/>
          <p:nvPr/>
        </p:nvSpPr>
        <p:spPr>
          <a:xfrm>
            <a:off x="5989319" y="2788920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adge Quote"/>
          <p:cNvSpPr/>
          <p:nvPr/>
        </p:nvSpPr>
        <p:spPr>
          <a:xfrm>
            <a:off x="6217919" y="3137535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Icon Quote" descr="Quot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799" y="3320415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86599" y="295351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คำตอบพร้อมอ้างอิง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3429000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กด [1] [2] ดูเอกสาร หน้า และข้อความต้นทาง</a:t>
            </a:r>
          </a:p>
        </p:txBody>
      </p:sp>
      <p:sp>
        <p:nvSpPr>
          <p:cNvPr id="22" name="Feature 2"/>
          <p:cNvSpPr/>
          <p:nvPr/>
        </p:nvSpPr>
        <p:spPr>
          <a:xfrm>
            <a:off x="10881359" y="2788920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dge Plug"/>
          <p:cNvSpPr/>
          <p:nvPr/>
        </p:nvSpPr>
        <p:spPr>
          <a:xfrm>
            <a:off x="11109959" y="3137535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Icon Plug" descr="Plug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2839" y="3320415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78639" y="295351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เรียก Tools / MCP เอง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39" y="3429000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Agent เลือกใช้เครื่องมือตามคำถาม</a:t>
            </a:r>
          </a:p>
        </p:txBody>
      </p:sp>
      <p:sp>
        <p:nvSpPr>
          <p:cNvPr id="27" name="Feature 3"/>
          <p:cNvSpPr/>
          <p:nvPr/>
        </p:nvSpPr>
        <p:spPr>
          <a:xfrm>
            <a:off x="5989319" y="4400550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adge Layers"/>
          <p:cNvSpPr/>
          <p:nvPr/>
        </p:nvSpPr>
        <p:spPr>
          <a:xfrm>
            <a:off x="6217919" y="4749165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Icon Layers" descr="Layers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799" y="4932045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86599" y="456514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Skills โหลดตามต้องการ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599" y="5040630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ประหยัด token ไม่ยัดคำสั่งทั้งหมดไว้ใน prompt</a:t>
            </a:r>
          </a:p>
        </p:txBody>
      </p:sp>
      <p:sp>
        <p:nvSpPr>
          <p:cNvPr id="32" name="Feature 4"/>
          <p:cNvSpPr/>
          <p:nvPr/>
        </p:nvSpPr>
        <p:spPr>
          <a:xfrm>
            <a:off x="10881359" y="4400550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adge ChartColumn"/>
          <p:cNvSpPr/>
          <p:nvPr/>
        </p:nvSpPr>
        <p:spPr>
          <a:xfrm>
            <a:off x="11109959" y="4749165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Icon ChartColumn" descr="ChartColumn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92839" y="4932045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978639" y="456514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กราฟที่ปลอดภัย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78639" y="5040630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ระบบวาดกราฟจากข้อมูลจริง ไม่ให้โมเดลเขียนโค้ด</a:t>
            </a:r>
          </a:p>
        </p:txBody>
      </p:sp>
      <p:sp>
        <p:nvSpPr>
          <p:cNvPr id="37" name="Feature 5"/>
          <p:cNvSpPr/>
          <p:nvPr/>
        </p:nvSpPr>
        <p:spPr>
          <a:xfrm>
            <a:off x="5989319" y="6012179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adge Search"/>
          <p:cNvSpPr/>
          <p:nvPr/>
        </p:nvSpPr>
        <p:spPr>
          <a:xfrm>
            <a:off x="6217919" y="6360794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Icon Search" descr="Search_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799" y="6543674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86599" y="6176771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ประวัติ ค้นหา แชร์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6652259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ค้นย้อนหลัง เก็บถาวร และแชร์บทสนทนา</a:t>
            </a:r>
          </a:p>
        </p:txBody>
      </p:sp>
      <p:sp>
        <p:nvSpPr>
          <p:cNvPr id="42" name="Feature 6"/>
          <p:cNvSpPr/>
          <p:nvPr/>
        </p:nvSpPr>
        <p:spPr>
          <a:xfrm>
            <a:off x="10881359" y="6012179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adge Globe"/>
          <p:cNvSpPr/>
          <p:nvPr/>
        </p:nvSpPr>
        <p:spPr>
          <a:xfrm>
            <a:off x="11109959" y="6360794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Icon Globe" descr="Globe_nav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2839" y="6543674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978639" y="6176771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Embed Widget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78639" y="6652259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ฝังช่องแชทในเว็บไซต์ขององค์กร</a:t>
            </a:r>
          </a:p>
        </p:txBody>
      </p:sp>
      <p:sp>
        <p:nvSpPr>
          <p:cNvPr id="47" name="Feature 7"/>
          <p:cNvSpPr/>
          <p:nvPr/>
        </p:nvSpPr>
        <p:spPr>
          <a:xfrm>
            <a:off x="5989319" y="7623809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adge Store"/>
          <p:cNvSpPr/>
          <p:nvPr/>
        </p:nvSpPr>
        <p:spPr>
          <a:xfrm>
            <a:off x="6217919" y="7972424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Icon Store" descr="Store_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799" y="8155304"/>
            <a:ext cx="365760" cy="365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86599" y="7788401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Prompt &amp; Skill Market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599" y="8263889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สมาชิกเสนอ แอดมินอนุมัติ แล้วติดตั้งใช้ได้</a:t>
            </a:r>
          </a:p>
        </p:txBody>
      </p:sp>
      <p:sp>
        <p:nvSpPr>
          <p:cNvPr id="52" name="Feature 8"/>
          <p:cNvSpPr/>
          <p:nvPr/>
        </p:nvSpPr>
        <p:spPr>
          <a:xfrm>
            <a:off x="10881359" y="7623809"/>
            <a:ext cx="466344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adge ShieldCheck"/>
          <p:cNvSpPr/>
          <p:nvPr/>
        </p:nvSpPr>
        <p:spPr>
          <a:xfrm>
            <a:off x="11109959" y="7972424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Icon ShieldCheck" descr="ShieldCheck_nav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92839" y="8155304"/>
            <a:ext cx="365760" cy="3657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978639" y="7788401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ควบคุมและตรวจสอบ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978639" y="8263889"/>
            <a:ext cx="3383280" cy="7155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สิทธิ์ตามกลุ่ม โควตา Rate limit Audit 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แพ็กเกจ 5: Knowledge &amp; MCP Hub</a:t>
            </a:r>
          </a:p>
        </p:txBody>
      </p:sp>
      <p:sp>
        <p:nvSpPr>
          <p:cNvPr id="12" name="Type 1"/>
          <p:cNvSpPr/>
          <p:nvPr/>
        </p:nvSpPr>
        <p:spPr>
          <a:xfrm>
            <a:off x="1463040" y="2788920"/>
            <a:ext cx="4480560" cy="5212080"/>
          </a:xfrm>
          <a:prstGeom prst="roundRect">
            <a:avLst>
              <a:gd name="adj" fmla="val 510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ead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5667" y="2971800"/>
            <a:ext cx="2155305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83080" y="52578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Ready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85216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เลือกโดเมนที่ต้องการแล้วเรียกใช้ Agent ได้ทันที ใช้ได้แม้ยังไม่มีข้อมูลของตัวเอง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7223760"/>
            <a:ext cx="3840480" cy="530352"/>
          </a:xfrm>
          <a:prstGeom prst="roundRect">
            <a:avLst>
              <a:gd name="adj" fmla="val 43103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เริ่มใช้งานได้เร็วที่สุด</a:t>
            </a:r>
          </a:p>
        </p:txBody>
      </p:sp>
      <p:sp>
        <p:nvSpPr>
          <p:cNvPr id="17" name="Type 2"/>
          <p:cNvSpPr/>
          <p:nvPr/>
        </p:nvSpPr>
        <p:spPr>
          <a:xfrm>
            <a:off x="6263640" y="2788920"/>
            <a:ext cx="4480560" cy="5212080"/>
          </a:xfrm>
          <a:prstGeom prst="roundRect">
            <a:avLst>
              <a:gd name="adj" fmla="val 510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ust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746" y="2971800"/>
            <a:ext cx="1766346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79" y="52578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Custom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585216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นำข้อมูลองค์กรจาก PDF, DOC, Excel, ฐานข้อมูล, API และเว็บไซต์ มาสร้าง Agent ที่ตอบจากข้อมูลของคุณ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79" y="7223760"/>
            <a:ext cx="3840480" cy="530352"/>
          </a:xfrm>
          <a:prstGeom prst="roundRect">
            <a:avLst>
              <a:gd name="adj" fmla="val 43103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ข้อมูลแยกต่อองค์กร</a:t>
            </a:r>
          </a:p>
        </p:txBody>
      </p:sp>
      <p:sp>
        <p:nvSpPr>
          <p:cNvPr id="22" name="Type 3"/>
          <p:cNvSpPr/>
          <p:nvPr/>
        </p:nvSpPr>
        <p:spPr>
          <a:xfrm>
            <a:off x="11064240" y="2788920"/>
            <a:ext cx="4480560" cy="5212080"/>
          </a:xfrm>
          <a:prstGeom prst="roundRect">
            <a:avLst>
              <a:gd name="adj" fmla="val 510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hybr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67722" y="2971800"/>
            <a:ext cx="2473594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84280" y="52578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Hybrid 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585216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ผสานคลังความรู้ของ IMC เข้ากับข้อมูลองค์กร เพื่อสร้าง Agent เฉพาะทางที่ตอบได้ลึกกว่า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84280" y="7223760"/>
            <a:ext cx="3840480" cy="530352"/>
          </a:xfrm>
          <a:prstGeom prst="roundRect">
            <a:avLst>
              <a:gd name="adj" fmla="val 43103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ความรู้ IMC + ข้อมูลของคุณ</a:t>
            </a:r>
          </a:p>
        </p:txBody>
      </p:sp>
      <p:sp>
        <p:nvSpPr>
          <p:cNvPr id="27" name="Banner"/>
          <p:cNvSpPr/>
          <p:nvPr/>
        </p:nvSpPr>
        <p:spPr>
          <a:xfrm>
            <a:off x="1463040" y="8183879"/>
            <a:ext cx="14081760" cy="868680"/>
          </a:xfrm>
          <a:prstGeom prst="roundRect">
            <a:avLst>
              <a:gd name="adj" fmla="val 26315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274320" tIns="0" rIns="2743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เชื่อมฐานข้อมูล ไฟล์ และ API ผ่าน MCP ให้ IMC Chat และ Bots เรียกใช้ · ติดตั้ง Cloud หรือ On-premise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หรือให้ IMC สร้าง Vector DB และ Agent ให้ตั้งแต่ต้น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คลังความรู้เฉพาะทางและ Ready Agent</a:t>
            </a:r>
          </a:p>
        </p:txBody>
      </p:sp>
      <p:sp>
        <p:nvSpPr>
          <p:cNvPr id="12" name="Domain 1"/>
          <p:cNvSpPr/>
          <p:nvPr/>
        </p:nvSpPr>
        <p:spPr>
          <a:xfrm>
            <a:off x="1463040" y="2788920"/>
            <a:ext cx="4343400" cy="297180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Stethoscope"/>
          <p:cNvSpPr/>
          <p:nvPr/>
        </p:nvSpPr>
        <p:spPr>
          <a:xfrm>
            <a:off x="1737360" y="3063239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Stethoscope" descr="Stethoscop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1670" y="3257549"/>
            <a:ext cx="388620" cy="3886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97480" y="306323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Medical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69079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โรค ยา แนวทางการดูแล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37760"/>
            <a:ext cx="37947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โรงพยาบาล · คลินิก · Health Tech</a:t>
            </a:r>
          </a:p>
        </p:txBody>
      </p:sp>
      <p:sp>
        <p:nvSpPr>
          <p:cNvPr id="18" name="Domain 2"/>
          <p:cNvSpPr/>
          <p:nvPr/>
        </p:nvSpPr>
        <p:spPr>
          <a:xfrm>
            <a:off x="6080760" y="2788920"/>
            <a:ext cx="4343400" cy="2971800"/>
          </a:xfrm>
          <a:prstGeom prst="roundRect">
            <a:avLst>
              <a:gd name="adj" fmla="val 7692"/>
            </a:avLst>
          </a:prstGeom>
          <a:solidFill>
            <a:srgbClr val="FFF3CC"/>
          </a:solidFill>
          <a:ln w="38100">
            <a:solidFill>
              <a:srgbClr val="FFBC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adge Ship"/>
          <p:cNvSpPr/>
          <p:nvPr/>
        </p:nvSpPr>
        <p:spPr>
          <a:xfrm>
            <a:off x="6355080" y="3063239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Icon Ship" descr="Ship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9390" y="3257549"/>
            <a:ext cx="388620" cy="3886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306323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Trade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79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นำเข้า-ส่งออก พิธีศุลกากร ตลาดต่างประเทศ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937760"/>
            <a:ext cx="37947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ผู้ส่งออก · หน่วยงาน · ที่ปรึกษา</a:t>
            </a:r>
          </a:p>
        </p:txBody>
      </p:sp>
      <p:sp>
        <p:nvSpPr>
          <p:cNvPr id="24" name="Domain 3"/>
          <p:cNvSpPr/>
          <p:nvPr/>
        </p:nvSpPr>
        <p:spPr>
          <a:xfrm>
            <a:off x="1463040" y="6080760"/>
            <a:ext cx="4343400" cy="297180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adge Scale"/>
          <p:cNvSpPr/>
          <p:nvPr/>
        </p:nvSpPr>
        <p:spPr>
          <a:xfrm>
            <a:off x="1737360" y="635508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Icon Scale" descr="Scale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1670" y="6549390"/>
            <a:ext cx="388620" cy="3886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97480" y="63550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Legal &amp;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736092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กฎหมาย ระเบียบ นโยบาย SOP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8229600"/>
            <a:ext cx="37947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องค์กรและหน่วยงานกำกับ</a:t>
            </a:r>
          </a:p>
        </p:txBody>
      </p:sp>
      <p:sp>
        <p:nvSpPr>
          <p:cNvPr id="30" name="Domain 4"/>
          <p:cNvSpPr/>
          <p:nvPr/>
        </p:nvSpPr>
        <p:spPr>
          <a:xfrm>
            <a:off x="6080760" y="6080760"/>
            <a:ext cx="4343400" cy="2971800"/>
          </a:xfrm>
          <a:prstGeom prst="roundRect">
            <a:avLst>
              <a:gd name="adj" fmla="val 769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adge Building2"/>
          <p:cNvSpPr/>
          <p:nvPr/>
        </p:nvSpPr>
        <p:spPr>
          <a:xfrm>
            <a:off x="6355080" y="635508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Icon Building2" descr="Building2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9390" y="6549390"/>
            <a:ext cx="388620" cy="3886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15200" y="63550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Custom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736092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เอกสารองค์กร FAQ คู่มือ ฐานข้อมูล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8229600"/>
            <a:ext cx="37947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สร้าง Agent จากข้อมูลของคุณ</a:t>
            </a:r>
          </a:p>
        </p:txBody>
      </p:sp>
      <p:sp>
        <p:nvSpPr>
          <p:cNvPr id="36" name="Ready agent panel"/>
          <p:cNvSpPr/>
          <p:nvPr/>
        </p:nvSpPr>
        <p:spPr>
          <a:xfrm>
            <a:off x="10744200" y="2788920"/>
            <a:ext cx="4800600" cy="6263640"/>
          </a:xfrm>
          <a:prstGeom prst="roundRect">
            <a:avLst>
              <a:gd name="adj" fmla="val 4761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018520" y="3063239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Ready Agent แรก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3703320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Import–Export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4846320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Poppins"/>
                <a:ea typeface="Poppins"/>
                <a:cs typeface="Tahoma"/>
              </a:rPr>
              <a:t>เชื่อมข้อมูลการค้าของ IMC ผ่าน MCP 3 แหล่ง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18520" y="5715000"/>
            <a:ext cx="4251960" cy="932688"/>
          </a:xfrm>
          <a:prstGeom prst="roundRect">
            <a:avLst>
              <a:gd name="adj" fmla="val 17647"/>
            </a:avLst>
          </a:prstGeom>
          <a:solidFill>
            <a:srgbClr val="0B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01400" y="5788152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C00"/>
                </a:solidFill>
                <a:latin typeface="Consolas"/>
                <a:ea typeface="Consolas"/>
                <a:cs typeface="Tahoma"/>
              </a:rPr>
              <a:t>customs_trade_data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172200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สถิติการค้าไทย (กรมศุลกากร)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18520" y="6793992"/>
            <a:ext cx="4251960" cy="932688"/>
          </a:xfrm>
          <a:prstGeom prst="roundRect">
            <a:avLst>
              <a:gd name="adj" fmla="val 17647"/>
            </a:avLst>
          </a:prstGeom>
          <a:solidFill>
            <a:srgbClr val="0B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01400" y="6867144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C00"/>
                </a:solidFill>
                <a:latin typeface="Consolas"/>
                <a:ea typeface="Consolas"/>
                <a:cs typeface="Tahoma"/>
              </a:rPr>
              <a:t>gta_trade_data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7251192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Global Trade Atlas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18520" y="7872983"/>
            <a:ext cx="4251960" cy="932688"/>
          </a:xfrm>
          <a:prstGeom prst="roundRect">
            <a:avLst>
              <a:gd name="adj" fmla="val 17647"/>
            </a:avLst>
          </a:prstGeom>
          <a:solidFill>
            <a:srgbClr val="0B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01400" y="7946136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C00"/>
                </a:solidFill>
                <a:latin typeface="Consolas"/>
                <a:ea typeface="Consolas"/>
                <a:cs typeface="Tahoma"/>
              </a:rPr>
              <a:t>moc_news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8330183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ข่าวและประกาศ กระทรวงพาณิชย์</a:t>
            </a:r>
          </a:p>
        </p:txBody>
      </p:sp>
      <p:sp>
        <p:nvSpPr>
          <p:cNvPr id="49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เริ่มที่โดเมน Trade &amp; Export พร้อมเดโมที่งาน AI Expo (พ.ย. 2026) · โดเมนอื่นทยอยเปิด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Knowledge Flow: จากข้อมูลสู่ Agent</a:t>
            </a:r>
          </a:p>
        </p:txBody>
      </p:sp>
      <p:sp>
        <p:nvSpPr>
          <p:cNvPr id="12" name="Stage 1"/>
          <p:cNvSpPr/>
          <p:nvPr/>
        </p:nvSpPr>
        <p:spPr>
          <a:xfrm>
            <a:off x="1463040" y="2788920"/>
            <a:ext cx="3154680" cy="475488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tage head 1"/>
          <p:cNvSpPr/>
          <p:nvPr/>
        </p:nvSpPr>
        <p:spPr>
          <a:xfrm>
            <a:off x="1463040" y="2788920"/>
            <a:ext cx="3154680" cy="960120"/>
          </a:xfrm>
          <a:prstGeom prst="roundRect">
            <a:avLst>
              <a:gd name="adj" fmla="val 2380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adge 1"/>
          <p:cNvSpPr/>
          <p:nvPr/>
        </p:nvSpPr>
        <p:spPr>
          <a:xfrm>
            <a:off x="1645920" y="2898648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39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แหล่งข้อมูล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23360"/>
            <a:ext cx="26060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ไฟล์ PDF / DOC / Excel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ฐานข้อมูล (อ่านอย่างเดียว)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MCP Tools และ API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เว็บไซต์</a:t>
            </a:r>
          </a:p>
        </p:txBody>
      </p:sp>
      <p:sp>
        <p:nvSpPr>
          <p:cNvPr id="17" name="Arrow 1"/>
          <p:cNvSpPr/>
          <p:nvPr/>
        </p:nvSpPr>
        <p:spPr>
          <a:xfrm>
            <a:off x="4690872" y="2990088"/>
            <a:ext cx="341375" cy="548640"/>
          </a:xfrm>
          <a:prstGeom prst="chevron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tage 2"/>
          <p:cNvSpPr/>
          <p:nvPr/>
        </p:nvSpPr>
        <p:spPr>
          <a:xfrm>
            <a:off x="5105400" y="2788920"/>
            <a:ext cx="3154680" cy="475488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tage head 2"/>
          <p:cNvSpPr/>
          <p:nvPr/>
        </p:nvSpPr>
        <p:spPr>
          <a:xfrm>
            <a:off x="5105400" y="2788920"/>
            <a:ext cx="3154680" cy="960120"/>
          </a:xfrm>
          <a:prstGeom prst="roundRect">
            <a:avLst>
              <a:gd name="adj" fmla="val 2380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adge 2"/>
          <p:cNvSpPr/>
          <p:nvPr/>
        </p:nvSpPr>
        <p:spPr>
          <a:xfrm>
            <a:off x="5288280" y="2898648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1240" y="2834639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Knowledge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9720" y="4023360"/>
            <a:ext cx="26060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ตัดคำไทย + Chunk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Embedding + Vector DB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Hybrid RAG: keyword + vector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โหมด Index หรือ Query สด</a:t>
            </a:r>
          </a:p>
        </p:txBody>
      </p:sp>
      <p:sp>
        <p:nvSpPr>
          <p:cNvPr id="23" name="Arrow 2"/>
          <p:cNvSpPr/>
          <p:nvPr/>
        </p:nvSpPr>
        <p:spPr>
          <a:xfrm>
            <a:off x="8333232" y="2990088"/>
            <a:ext cx="341375" cy="548640"/>
          </a:xfrm>
          <a:prstGeom prst="chevron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tage 3"/>
          <p:cNvSpPr/>
          <p:nvPr/>
        </p:nvSpPr>
        <p:spPr>
          <a:xfrm>
            <a:off x="8747760" y="2788920"/>
            <a:ext cx="3154680" cy="475488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tage head 3"/>
          <p:cNvSpPr/>
          <p:nvPr/>
        </p:nvSpPr>
        <p:spPr>
          <a:xfrm>
            <a:off x="8747760" y="2788920"/>
            <a:ext cx="3154680" cy="960120"/>
          </a:xfrm>
          <a:prstGeom prst="roundRect">
            <a:avLst>
              <a:gd name="adj" fmla="val 2380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adge 3"/>
          <p:cNvSpPr/>
          <p:nvPr/>
        </p:nvSpPr>
        <p:spPr>
          <a:xfrm>
            <a:off x="8930640" y="2898648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600" y="2834639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Agent Factory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2080" y="4023360"/>
            <a:ext cx="26060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Use case + ตัวอย่างพร้อมเฉลย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System prompt มีเวอร์ชัน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Tools และ Skills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ชุดสอบวัด % ความแม่นยำ</a:t>
            </a:r>
          </a:p>
        </p:txBody>
      </p:sp>
      <p:sp>
        <p:nvSpPr>
          <p:cNvPr id="29" name="Arrow 3"/>
          <p:cNvSpPr/>
          <p:nvPr/>
        </p:nvSpPr>
        <p:spPr>
          <a:xfrm>
            <a:off x="11975592" y="2990088"/>
            <a:ext cx="341375" cy="548640"/>
          </a:xfrm>
          <a:prstGeom prst="chevron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tage 4"/>
          <p:cNvSpPr/>
          <p:nvPr/>
        </p:nvSpPr>
        <p:spPr>
          <a:xfrm>
            <a:off x="12390119" y="2788920"/>
            <a:ext cx="3154680" cy="4754880"/>
          </a:xfrm>
          <a:prstGeom prst="roundRect">
            <a:avLst>
              <a:gd name="adj" fmla="val 724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tage head 4"/>
          <p:cNvSpPr/>
          <p:nvPr/>
        </p:nvSpPr>
        <p:spPr>
          <a:xfrm>
            <a:off x="12390119" y="2788920"/>
            <a:ext cx="3154680" cy="960120"/>
          </a:xfrm>
          <a:prstGeom prst="roundRect">
            <a:avLst>
              <a:gd name="adj" fmla="val 23809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adge 4"/>
          <p:cNvSpPr/>
          <p:nvPr/>
        </p:nvSpPr>
        <p:spPr>
          <a:xfrm>
            <a:off x="12572999" y="2898648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95959" y="2834639"/>
            <a:ext cx="20574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ช่องทางใช้งาน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64440" y="4023360"/>
            <a:ext cx="26060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MCP Server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OpenAI-compatible API *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Chat / Widget บนเว็บ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LINE OA *</a:t>
            </a:r>
          </a:p>
        </p:txBody>
      </p:sp>
      <p:sp>
        <p:nvSpPr>
          <p:cNvPr id="35" name="Governance bar"/>
          <p:cNvSpPr/>
          <p:nvPr/>
        </p:nvSpPr>
        <p:spPr>
          <a:xfrm>
            <a:off x="1463040" y="7818120"/>
            <a:ext cx="14081760" cy="1234439"/>
          </a:xfrm>
          <a:prstGeom prst="roundRect">
            <a:avLst>
              <a:gd name="adj" fmla="val 18518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" y="8229600"/>
            <a:ext cx="411479" cy="4114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377440" y="7909560"/>
            <a:ext cx="2651760" cy="1051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Citation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อ้างอิงแหล่งที่มา</a:t>
            </a:r>
          </a:p>
        </p:txBody>
      </p:sp>
      <p:pic>
        <p:nvPicPr>
          <p:cNvPr id="38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8229600"/>
            <a:ext cx="411479" cy="4114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52160" y="7909560"/>
            <a:ext cx="2651760" cy="1051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RBAC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แยกสิทธิ์ตามกลุ่ม</a:t>
            </a:r>
          </a:p>
        </p:txBody>
      </p:sp>
      <p:pic>
        <p:nvPicPr>
          <p:cNvPr id="40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8229600"/>
            <a:ext cx="411479" cy="41147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26880" y="7909560"/>
            <a:ext cx="2651760" cy="1051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แยกข้อมูล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ต่อบริษัท *</a:t>
            </a:r>
          </a:p>
        </p:txBody>
      </p:sp>
      <p:pic>
        <p:nvPicPr>
          <p:cNvPr id="42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7239" y="8229600"/>
            <a:ext cx="411479" cy="41147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801599" y="7909560"/>
            <a:ext cx="2651760" cy="1051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Activity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ทุกบทบาท</a:t>
            </a:r>
          </a:p>
        </p:txBody>
      </p:sp>
      <p:sp>
        <p:nvSpPr>
          <p:cNvPr id="44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* อยู่ในแผนพัฒนา (Roadmap) หลังงาน AI Expo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Studio: ลูกค้าสร้าง Agent เองได้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36520" y="3154679"/>
            <a:ext cx="11734800" cy="0"/>
          </a:xfrm>
          <a:prstGeom prst="line">
            <a:avLst/>
          </a:prstGeom>
          <a:ln w="38100">
            <a:solidFill>
              <a:srgbClr val="C9D2D9"/>
            </a:solidFill>
          </a:ln>
        </p:spPr>
      </p:cxnSp>
      <p:sp>
        <p:nvSpPr>
          <p:cNvPr id="13" name="Badge 1"/>
          <p:cNvSpPr/>
          <p:nvPr/>
        </p:nvSpPr>
        <p:spPr>
          <a:xfrm>
            <a:off x="2270760" y="278892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เชื่อมแหล่งข้อมูล</a:t>
            </a:r>
          </a:p>
        </p:txBody>
      </p:sp>
      <p:sp>
        <p:nvSpPr>
          <p:cNvPr id="15" name="Badge 2"/>
          <p:cNvSpPr/>
          <p:nvPr/>
        </p:nvSpPr>
        <p:spPr>
          <a:xfrm>
            <a:off x="4617720" y="278892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44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สร้าง Knowledge Set</a:t>
            </a:r>
          </a:p>
        </p:txBody>
      </p:sp>
      <p:sp>
        <p:nvSpPr>
          <p:cNvPr id="17" name="Badge 3"/>
          <p:cNvSpPr/>
          <p:nvPr/>
        </p:nvSpPr>
        <p:spPr>
          <a:xfrm>
            <a:off x="6964680" y="278892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เพิ่ม Use case</a:t>
            </a:r>
          </a:p>
        </p:txBody>
      </p:sp>
      <p:sp>
        <p:nvSpPr>
          <p:cNvPr id="19" name="Badge 4"/>
          <p:cNvSpPr/>
          <p:nvPr/>
        </p:nvSpPr>
        <p:spPr>
          <a:xfrm>
            <a:off x="9311640" y="278892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สร้าง Agent</a:t>
            </a:r>
          </a:p>
        </p:txBody>
      </p:sp>
      <p:sp>
        <p:nvSpPr>
          <p:cNvPr id="21" name="Badge 5"/>
          <p:cNvSpPr/>
          <p:nvPr/>
        </p:nvSpPr>
        <p:spPr>
          <a:xfrm>
            <a:off x="11658600" y="278892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232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ทดสอบและวัดผล</a:t>
            </a:r>
          </a:p>
        </p:txBody>
      </p:sp>
      <p:sp>
        <p:nvSpPr>
          <p:cNvPr id="23" name="Badge 6"/>
          <p:cNvSpPr/>
          <p:nvPr/>
        </p:nvSpPr>
        <p:spPr>
          <a:xfrm>
            <a:off x="14005560" y="2788920"/>
            <a:ext cx="731520" cy="73152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League Spartan"/>
                <a:ea typeface="League Spartan"/>
                <a:cs typeface="Tahom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89280" y="3657600"/>
            <a:ext cx="2164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เผยแพร่</a:t>
            </a:r>
          </a:p>
        </p:txBody>
      </p:sp>
      <p:sp>
        <p:nvSpPr>
          <p:cNvPr id="25" name="Role User"/>
          <p:cNvSpPr/>
          <p:nvPr/>
        </p:nvSpPr>
        <p:spPr>
          <a:xfrm>
            <a:off x="1463040" y="4572000"/>
            <a:ext cx="4480560" cy="3429000"/>
          </a:xfrm>
          <a:prstGeom prst="roundRect">
            <a:avLst>
              <a:gd name="adj" fmla="val 666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adge Eye"/>
          <p:cNvSpPr/>
          <p:nvPr/>
        </p:nvSpPr>
        <p:spPr>
          <a:xfrm>
            <a:off x="1737360" y="484632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Icon Eye" descr="Ey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1670" y="5040630"/>
            <a:ext cx="388620" cy="3886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7480" y="4800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ผู้ใช้งาน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852160"/>
            <a:ext cx="3931920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ดู Agent ที่ใช้ได้และรายละเอียด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ดูวิธีเรียกใช้ (MCP / API / แชท)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แชทพร้อมอ้างอิงแหล่งที่มา</a:t>
            </a:r>
          </a:p>
        </p:txBody>
      </p:sp>
      <p:sp>
        <p:nvSpPr>
          <p:cNvPr id="31" name="Role Creator"/>
          <p:cNvSpPr/>
          <p:nvPr/>
        </p:nvSpPr>
        <p:spPr>
          <a:xfrm>
            <a:off x="6263640" y="4572000"/>
            <a:ext cx="4480560" cy="3429000"/>
          </a:xfrm>
          <a:prstGeom prst="roundRect">
            <a:avLst>
              <a:gd name="adj" fmla="val 666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adge Wrench"/>
          <p:cNvSpPr/>
          <p:nvPr/>
        </p:nvSpPr>
        <p:spPr>
          <a:xfrm>
            <a:off x="6537959" y="484632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Icon Wrench" descr="Wrench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2270" y="5040630"/>
            <a:ext cx="388620" cy="3886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98079" y="4800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Creator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ผู้สร้างความรู้และ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5852160"/>
            <a:ext cx="3931920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เชื่อมฐานข้อมูล สร้าง Knowledge Set จากไฟล์และตาราง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เพิ่ม Use case และตัวอย่างคำถาม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สร้างและทดสอบ Agent</a:t>
            </a:r>
          </a:p>
        </p:txBody>
      </p:sp>
      <p:sp>
        <p:nvSpPr>
          <p:cNvPr id="37" name="Role Admin"/>
          <p:cNvSpPr/>
          <p:nvPr/>
        </p:nvSpPr>
        <p:spPr>
          <a:xfrm>
            <a:off x="11064240" y="4572000"/>
            <a:ext cx="4480560" cy="3429000"/>
          </a:xfrm>
          <a:prstGeom prst="roundRect">
            <a:avLst>
              <a:gd name="adj" fmla="val 6666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adge Settings"/>
          <p:cNvSpPr/>
          <p:nvPr/>
        </p:nvSpPr>
        <p:spPr>
          <a:xfrm>
            <a:off x="11338560" y="484632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Icon Settings" descr="Settings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2870" y="5040630"/>
            <a:ext cx="388620" cy="3886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298680" y="4800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98680" y="5257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ผู้ดูแลระบบ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5852160"/>
            <a:ext cx="3931920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ตั้งค่าระบบ ผู้ใช้ และบทบาท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ดูประวัติการใช้งานของทุกบทบาท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BC00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กำกับดูแลและตรวจสอบย้อนหลัง</a:t>
            </a:r>
          </a:p>
        </p:txBody>
      </p:sp>
      <p:sp>
        <p:nvSpPr>
          <p:cNvPr id="43" name="Publish gate"/>
          <p:cNvSpPr/>
          <p:nvPr/>
        </p:nvSpPr>
        <p:spPr>
          <a:xfrm>
            <a:off x="1463040" y="8183880"/>
            <a:ext cx="14081760" cy="868680"/>
          </a:xfrm>
          <a:prstGeom prst="roundRect">
            <a:avLst>
              <a:gd name="adj" fmla="val 26315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Icon BadgeCheck" descr="BadgeCheck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3080" y="8412480"/>
            <a:ext cx="411479" cy="4114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23160" y="8183880"/>
            <a:ext cx="12801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เผยแพร่ Agent ได้เมื่อผลชุดสอบผ่านเกณฑ์ความแม่นยำที่กำหนด — คุมคุณภาพก่อนถึงผู้ใช้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NeuronHub: ติดตั้งในองค์กรได้</a:t>
            </a:r>
          </a:p>
        </p:txBody>
      </p:sp>
      <p:sp>
        <p:nvSpPr>
          <p:cNvPr id="12" name="Service 1"/>
          <p:cNvSpPr/>
          <p:nvPr/>
        </p:nvSpPr>
        <p:spPr>
          <a:xfrm>
            <a:off x="1463040" y="2788920"/>
            <a:ext cx="667512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LayoutDashboard"/>
          <p:cNvSpPr/>
          <p:nvPr/>
        </p:nvSpPr>
        <p:spPr>
          <a:xfrm>
            <a:off x="1691640" y="3114675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con LayoutDashboard" descr="LayoutDashboard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5950" y="3308985"/>
            <a:ext cx="388620" cy="3886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97480" y="2926079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AI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410712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ศูนย์กลางเข้าถึง AI Tools, Agents และบริการขององค์กร ผ่านพอร์ทัลเดียว (SSO)</a:t>
            </a:r>
          </a:p>
        </p:txBody>
      </p:sp>
      <p:sp>
        <p:nvSpPr>
          <p:cNvPr id="17" name="Service 2"/>
          <p:cNvSpPr/>
          <p:nvPr/>
        </p:nvSpPr>
        <p:spPr>
          <a:xfrm>
            <a:off x="1463040" y="4400550"/>
            <a:ext cx="667512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adge Server"/>
          <p:cNvSpPr/>
          <p:nvPr/>
        </p:nvSpPr>
        <p:spPr>
          <a:xfrm>
            <a:off x="1691640" y="4726305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Icon Server" descr="Server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5950" y="4920615"/>
            <a:ext cx="388620" cy="3886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97480" y="453771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Enterprise NeuronHub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022342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ติดตั้งบน On-premise / Private Cloud ควบคุมข้อมูลและความปลอดภัยได้เอง</a:t>
            </a:r>
          </a:p>
        </p:txBody>
      </p:sp>
      <p:sp>
        <p:nvSpPr>
          <p:cNvPr id="22" name="Service 3"/>
          <p:cNvSpPr/>
          <p:nvPr/>
        </p:nvSpPr>
        <p:spPr>
          <a:xfrm>
            <a:off x="1463040" y="6012179"/>
            <a:ext cx="667512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dge Bot"/>
          <p:cNvSpPr/>
          <p:nvPr/>
        </p:nvSpPr>
        <p:spPr>
          <a:xfrm>
            <a:off x="1691640" y="6337934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Icon Bot" descr="Bot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5950" y="6532245"/>
            <a:ext cx="388620" cy="3886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97480" y="614934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Agent as a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6633971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IMC พัฒนาและให้บริการ Agent เฉพาะทางสำหรับงานในองค์กร</a:t>
            </a:r>
          </a:p>
        </p:txBody>
      </p:sp>
      <p:sp>
        <p:nvSpPr>
          <p:cNvPr id="27" name="Service 4"/>
          <p:cNvSpPr/>
          <p:nvPr/>
        </p:nvSpPr>
        <p:spPr>
          <a:xfrm>
            <a:off x="1463040" y="7623809"/>
            <a:ext cx="6675120" cy="142875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adge Wrench"/>
          <p:cNvSpPr/>
          <p:nvPr/>
        </p:nvSpPr>
        <p:spPr>
          <a:xfrm>
            <a:off x="1691640" y="7949564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Icon Wrench" descr="Wrench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85950" y="8143874"/>
            <a:ext cx="388620" cy="3886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7760969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Implementation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8245601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ให้คำปรึกษา ออกแบบ พัฒนา เชื่อมระบบเดิม และดูแลต่อเนื่อง</a:t>
            </a:r>
          </a:p>
        </p:txBody>
      </p:sp>
      <p:sp>
        <p:nvSpPr>
          <p:cNvPr id="32" name="Feature 1"/>
          <p:cNvSpPr/>
          <p:nvPr/>
        </p:nvSpPr>
        <p:spPr>
          <a:xfrm>
            <a:off x="8458200" y="278892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Icon Network" descr="Network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0" y="2990088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26880" y="2926079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Multi-Model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70332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ต่อโมเดลหลายค่ายทั้ง Cloud API และ Open-weight</a:t>
            </a:r>
          </a:p>
        </p:txBody>
      </p:sp>
      <p:sp>
        <p:nvSpPr>
          <p:cNvPr id="36" name="Feature 2"/>
          <p:cNvSpPr/>
          <p:nvPr/>
        </p:nvSpPr>
        <p:spPr>
          <a:xfrm>
            <a:off x="12092940" y="278892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 Cpu" descr="Cpu_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21540" y="2990088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61619" y="2926079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Fine-tuning โมเดล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21540" y="370332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ปรับแต่งโมเดลให้เหมาะกับงานขององค์กร (Custom Model)</a:t>
            </a:r>
          </a:p>
        </p:txBody>
      </p:sp>
      <p:sp>
        <p:nvSpPr>
          <p:cNvPr id="40" name="Feature 3"/>
          <p:cNvSpPr/>
          <p:nvPr/>
        </p:nvSpPr>
        <p:spPr>
          <a:xfrm>
            <a:off x="8458200" y="493776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Icon Bot" descr="Bot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0" y="5138928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26880" y="5074920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Agents เฉพาะทาง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85216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วิเคราะห์ข้อมูล IT Helpdesk Call Center เอกสารภายใน</a:t>
            </a:r>
          </a:p>
        </p:txBody>
      </p:sp>
      <p:sp>
        <p:nvSpPr>
          <p:cNvPr id="44" name="Feature 4"/>
          <p:cNvSpPr/>
          <p:nvPr/>
        </p:nvSpPr>
        <p:spPr>
          <a:xfrm>
            <a:off x="12092940" y="493776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Icon Database" descr="Database_nav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21540" y="5138928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961619" y="5074920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Local Knowledge 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21540" y="585216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เชื่อมเอกสาร นโยบาย และฐานข้อมูลภายใน เพื่อคำตอบที่แม่นยำ</a:t>
            </a:r>
          </a:p>
        </p:txBody>
      </p:sp>
      <p:sp>
        <p:nvSpPr>
          <p:cNvPr id="48" name="Feature 5"/>
          <p:cNvSpPr/>
          <p:nvPr/>
        </p:nvSpPr>
        <p:spPr>
          <a:xfrm>
            <a:off x="8458200" y="708660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Icon Cloud" descr="Cloud_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86800" y="7287768"/>
            <a:ext cx="50292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326880" y="7223760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Cloud / On-premise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800100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ยืดหยุ่นตามนโยบายและสภาพแวดล้อมขององค์กร</a:t>
            </a:r>
          </a:p>
        </p:txBody>
      </p:sp>
      <p:sp>
        <p:nvSpPr>
          <p:cNvPr id="52" name="Feature 6"/>
          <p:cNvSpPr/>
          <p:nvPr/>
        </p:nvSpPr>
        <p:spPr>
          <a:xfrm>
            <a:off x="12092940" y="7086600"/>
            <a:ext cx="3451860" cy="1965960"/>
          </a:xfrm>
          <a:prstGeom prst="roundRect">
            <a:avLst>
              <a:gd name="adj" fmla="val 11627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Icon Lock" descr="Lock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21540" y="7287768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961619" y="7223760"/>
            <a:ext cx="24460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RBAC + Audit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21540" y="8001000"/>
            <a:ext cx="299466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กำหนดสิทธิ์ผู้ใช้ ตรวจสอบการใช้งานได้ครบถ้วน</a:t>
            </a:r>
          </a:p>
        </p:txBody>
      </p:sp>
      <p:sp>
        <p:nvSpPr>
          <p:cNvPr id="56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เชื่อมโมเดลผ่าน OpenAI-compatible API ได้ เช่น OpenAI, OpenRouter, Ollama, vLLM, DeepSeek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AI ที่คุมได้: Governance</a:t>
            </a:r>
          </a:p>
        </p:txBody>
      </p:sp>
      <p:sp>
        <p:nvSpPr>
          <p:cNvPr id="12" name="Principles"/>
          <p:cNvSpPr/>
          <p:nvPr/>
        </p:nvSpPr>
        <p:spPr>
          <a:xfrm>
            <a:off x="1463040" y="2788920"/>
            <a:ext cx="5120640" cy="4983480"/>
          </a:xfrm>
          <a:prstGeom prst="roundRect">
            <a:avLst>
              <a:gd name="adj" fmla="val 4587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971800"/>
            <a:ext cx="448055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หลักการกำกับดูแล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0332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ผู้บริหารลูกค้าอนุมัติขอบเขตและการเข้าถึงข้อมูล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ทุก Bot มีผู้รับผิดชอบ (Owner) ชัดเจน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งานส่งออก เช่น อีเมล เอกสารการเงิน ต้องผ่านการอนุมัติของคน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FBC00"/>
              </a:buClr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บันทึกการเปลี่ยนแปลงและทบทวน Bots สม่ำเสมอ</a:t>
            </a:r>
          </a:p>
        </p:txBody>
      </p:sp>
      <p:graphicFrame>
        <p:nvGraphicFramePr>
          <p:cNvPr id="15" name="Risk table"/>
          <p:cNvGraphicFramePr>
            <a:graphicFrameLocks noGrp="1"/>
          </p:cNvGraphicFramePr>
          <p:nvPr/>
        </p:nvGraphicFramePr>
        <p:xfrm>
          <a:off x="6903719" y="2788920"/>
          <a:ext cx="8641080" cy="4956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4434840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ความเสี่ยง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แนวทางจัดการ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</a:tr>
              <a:tr h="107899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AI ส่งข้อมูลหรือเอกสารผิดออกไปภายนอก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คนอนุมัติก่อนส่งทุกครั้ง (Human-in-the-loop)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ความปลอดภัยและความเป็นส่วนตัวของข้อมูล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สิทธิ์เท่าที่จำเป็น ใช้ระบบที่องค์กรอนุมัติ ปฏิบัติตาม PDPA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107899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ข้อมูลไม่ถูกต้อง หรือ AI ตีความผิด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ทดลองคู่ขนานกับวิธีเดิม ตรวจกับข้อมูลต้นทาง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พึ่งพาที่ปรึกษามากเกินไป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สร้างแชมเปี้ยน AI ภายใน และส่งมอบคู่มือ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6" name="Platform controls"/>
          <p:cNvSpPr/>
          <p:nvPr/>
        </p:nvSpPr>
        <p:spPr>
          <a:xfrm>
            <a:off x="1463040" y="8001000"/>
            <a:ext cx="14081760" cy="1051560"/>
          </a:xfrm>
          <a:prstGeom prst="roundRect">
            <a:avLst>
              <a:gd name="adj" fmla="val 21739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37360" y="8298179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ในแพลตฟอร์ม</a:t>
            </a:r>
          </a:p>
        </p:txBody>
      </p:sp>
      <p:pic>
        <p:nvPicPr>
          <p:cNvPr id="18" name="Icon Key" descr="Key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8321040"/>
            <a:ext cx="411479" cy="4114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54879" y="809244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สิทธิ์ตามกลุ่ม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ผู้ใช้</a:t>
            </a:r>
          </a:p>
        </p:txBody>
      </p:sp>
      <p:pic>
        <p:nvPicPr>
          <p:cNvPr id="20" name="Icon ScrollText" descr="ScrollText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79" y="8321040"/>
            <a:ext cx="411479" cy="4114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89519" y="809244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Activity Log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ทุกบทบาท</a:t>
            </a:r>
          </a:p>
        </p:txBody>
      </p:sp>
      <p:pic>
        <p:nvPicPr>
          <p:cNvPr id="22" name="Icon Database" descr="Database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8321040"/>
            <a:ext cx="411479" cy="4114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809244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DB อ่านอย่างเดียว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เข้ารหัสรหัสผ่าน</a:t>
            </a:r>
          </a:p>
        </p:txBody>
      </p:sp>
      <p:pic>
        <p:nvPicPr>
          <p:cNvPr id="24" name="Icon FileSearch" descr="FileSearch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10160" y="8321040"/>
            <a:ext cx="411479" cy="4114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8800" y="809244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Citation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ตรวจย้อนกลับได้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วัดผลอย่างไร: KPI ที่ตกลงร่วมกัน</a:t>
            </a:r>
          </a:p>
        </p:txBody>
      </p:sp>
      <p:sp>
        <p:nvSpPr>
          <p:cNvPr id="12" name="KPI 1"/>
          <p:cNvSpPr/>
          <p:nvPr/>
        </p:nvSpPr>
        <p:spPr>
          <a:xfrm>
            <a:off x="1463040" y="2788920"/>
            <a:ext cx="3291840" cy="2926080"/>
          </a:xfrm>
          <a:prstGeom prst="roundRect">
            <a:avLst>
              <a:gd name="adj" fmla="val 781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71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572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Bots ที่ใช้งานจริงในงานประจำ (อย่างน้อย)</a:t>
            </a:r>
          </a:p>
        </p:txBody>
      </p:sp>
      <p:sp>
        <p:nvSpPr>
          <p:cNvPr id="15" name="KPI 2"/>
          <p:cNvSpPr/>
          <p:nvPr/>
        </p:nvSpPr>
        <p:spPr>
          <a:xfrm>
            <a:off x="5059680" y="2788920"/>
            <a:ext cx="3291840" cy="2926080"/>
          </a:xfrm>
          <a:prstGeom prst="roundRect">
            <a:avLst>
              <a:gd name="adj" fmla="val 781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2560" y="2971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2–3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0" y="4572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กระบวนการที่เปลี่ยนวิธีทำงาน (อย่างน้อย)</a:t>
            </a:r>
          </a:p>
        </p:txBody>
      </p:sp>
      <p:sp>
        <p:nvSpPr>
          <p:cNvPr id="18" name="KPI 3"/>
          <p:cNvSpPr/>
          <p:nvPr/>
        </p:nvSpPr>
        <p:spPr>
          <a:xfrm>
            <a:off x="8656320" y="2788920"/>
            <a:ext cx="3291840" cy="2926080"/>
          </a:xfrm>
          <a:prstGeom prst="roundRect">
            <a:avLst>
              <a:gd name="adj" fmla="val 781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200" y="2971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0640" y="4572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Bot ที่ทีมลูกค้าสร้างเอง โดยไม่ต้องมี IMC</a:t>
            </a:r>
          </a:p>
        </p:txBody>
      </p:sp>
      <p:sp>
        <p:nvSpPr>
          <p:cNvPr id="21" name="KPI 4"/>
          <p:cNvSpPr/>
          <p:nvPr/>
        </p:nvSpPr>
        <p:spPr>
          <a:xfrm>
            <a:off x="12252960" y="2788920"/>
            <a:ext cx="3291840" cy="2926080"/>
          </a:xfrm>
          <a:prstGeom prst="roundRect">
            <a:avLst>
              <a:gd name="adj" fmla="val 7812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0" y="2971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0" y="4572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งานส่งออกที่ผ่านการอนุมัติโดยคน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989320"/>
            <a:ext cx="5760720" cy="502920"/>
          </a:xfrm>
          <a:prstGeom prst="roundRect">
            <a:avLst>
              <a:gd name="adj" fmla="val 45454"/>
            </a:avLst>
          </a:prstGeom>
          <a:solidFill>
            <a:srgbClr val="FFBC0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ตกลงร่วมกันใน Phase 1 กับลูกค้าแต่ละราย</a:t>
            </a:r>
          </a:p>
        </p:txBody>
      </p:sp>
      <p:sp>
        <p:nvSpPr>
          <p:cNvPr id="25" name="Agreed 1"/>
          <p:cNvSpPr/>
          <p:nvPr/>
        </p:nvSpPr>
        <p:spPr>
          <a:xfrm>
            <a:off x="1463040" y="6720840"/>
            <a:ext cx="4480560" cy="2331720"/>
          </a:xfrm>
          <a:prstGeom prst="roundRect">
            <a:avLst>
              <a:gd name="adj" fmla="val 9803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adge Gauge"/>
          <p:cNvSpPr/>
          <p:nvPr/>
        </p:nvSpPr>
        <p:spPr>
          <a:xfrm>
            <a:off x="1737360" y="704087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Icon Gauge" descr="Gaug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0" y="7223759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7480" y="7040879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ประสิทธิภาพ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7955279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เวลาที่ใช้ต่องานก่อนและหลังใช้ Bots วัดจากข้อมูลจริงของลูกค้า</a:t>
            </a:r>
          </a:p>
        </p:txBody>
      </p:sp>
      <p:sp>
        <p:nvSpPr>
          <p:cNvPr id="30" name="Agreed 2"/>
          <p:cNvSpPr/>
          <p:nvPr/>
        </p:nvSpPr>
        <p:spPr>
          <a:xfrm>
            <a:off x="6263640" y="6720840"/>
            <a:ext cx="4480560" cy="2331720"/>
          </a:xfrm>
          <a:prstGeom prst="roundRect">
            <a:avLst>
              <a:gd name="adj" fmla="val 9803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adge Users"/>
          <p:cNvSpPr/>
          <p:nvPr/>
        </p:nvSpPr>
        <p:spPr>
          <a:xfrm>
            <a:off x="6537959" y="704087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Icon Users" descr="Users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7223759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98079" y="7040879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คนและวัฒนธรรม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7955279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สัดส่วนผู้ร่วมโครงการที่ใช้ AI ในงานประจำ</a:t>
            </a:r>
          </a:p>
        </p:txBody>
      </p:sp>
      <p:sp>
        <p:nvSpPr>
          <p:cNvPr id="35" name="Agreed 3"/>
          <p:cNvSpPr/>
          <p:nvPr/>
        </p:nvSpPr>
        <p:spPr>
          <a:xfrm>
            <a:off x="11064240" y="6720840"/>
            <a:ext cx="4480560" cy="2331720"/>
          </a:xfrm>
          <a:prstGeom prst="roundRect">
            <a:avLst>
              <a:gd name="adj" fmla="val 9803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adge UserCheck"/>
          <p:cNvSpPr/>
          <p:nvPr/>
        </p:nvSpPr>
        <p:spPr>
          <a:xfrm>
            <a:off x="11338560" y="7040879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 UserCheck" descr="User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21440" y="7223759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298680" y="7040879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ผู้บริหาร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7955279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ความพึงพอใจของผู้บริหารต่อผลลัพธ์</a:t>
            </a:r>
          </a:p>
        </p:txBody>
      </p:sp>
      <p:sp>
        <p:nvSpPr>
          <p:cNvPr id="40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ค่าเป้าหมายเป็นตัวอย่างข้อเสนอ ใช้ตกลงกับลูกค้าแต่ละราย — ยังไม่ใช่ผลลัพธ์ที่เกิดขึ้นจริง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Roadmap แพลตฟอร์ม</a:t>
            </a:r>
          </a:p>
        </p:txBody>
      </p:sp>
      <p:sp>
        <p:nvSpPr>
          <p:cNvPr id="12" name="Horizon 1"/>
          <p:cNvSpPr/>
          <p:nvPr/>
        </p:nvSpPr>
        <p:spPr>
          <a:xfrm>
            <a:off x="1463040" y="2788920"/>
            <a:ext cx="4480560" cy="6263640"/>
          </a:xfrm>
          <a:prstGeom prst="roundRect">
            <a:avLst>
              <a:gd name="adj" fmla="val 5102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3063239"/>
            <a:ext cx="3931920" cy="594360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ใช้งานได้แล้ว</a:t>
            </a:r>
          </a:p>
        </p:txBody>
      </p:sp>
      <p:pic>
        <p:nvPicPr>
          <p:cNvPr id="14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4242816"/>
            <a:ext cx="384047" cy="3840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1720" y="397763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Multi-LLM (OpenAI-compatible) สลับโมเดลได้</a:t>
            </a:r>
          </a:p>
        </p:txBody>
      </p:sp>
      <p:pic>
        <p:nvPicPr>
          <p:cNvPr id="16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5248655"/>
            <a:ext cx="384047" cy="3840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31720" y="498347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MCP Hub: ทะเบียนและเรียกใช้ Tools</a:t>
            </a:r>
          </a:p>
        </p:txBody>
      </p:sp>
      <p:pic>
        <p:nvPicPr>
          <p:cNvPr id="18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6254496"/>
            <a:ext cx="384047" cy="3840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98932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Agents &amp; Skills พร้อมสิทธิ์ตามกลุ่ม</a:t>
            </a:r>
          </a:p>
        </p:txBody>
      </p:sp>
      <p:pic>
        <p:nvPicPr>
          <p:cNvPr id="20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7260336"/>
            <a:ext cx="384047" cy="3840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31720" y="699516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Admin Console และ Token Analytics</a:t>
            </a:r>
          </a:p>
        </p:txBody>
      </p:sp>
      <p:pic>
        <p:nvPicPr>
          <p:cNvPr id="22" name="Icon Check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360" y="8266175"/>
            <a:ext cx="384047" cy="3840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31720" y="800100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Chat Platform: อ้างอิง แชร์ Embed Market</a:t>
            </a:r>
          </a:p>
        </p:txBody>
      </p:sp>
      <p:sp>
        <p:nvSpPr>
          <p:cNvPr id="24" name="Horizon 2"/>
          <p:cNvSpPr/>
          <p:nvPr/>
        </p:nvSpPr>
        <p:spPr>
          <a:xfrm>
            <a:off x="6263640" y="2788920"/>
            <a:ext cx="4480560" cy="6263640"/>
          </a:xfrm>
          <a:prstGeom prst="roundRect">
            <a:avLst>
              <a:gd name="adj" fmla="val 5102"/>
            </a:avLst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59" y="3063239"/>
            <a:ext cx="3931920" cy="594360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AI Expo (พ.ย. 2026)</a:t>
            </a:r>
          </a:p>
        </p:txBody>
      </p:sp>
      <p:pic>
        <p:nvPicPr>
          <p:cNvPr id="26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59" y="4242816"/>
            <a:ext cx="384047" cy="3840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32320" y="397763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Knowledge Engine: ตัดคำไทย + Hybrid RAG + Citation</a:t>
            </a:r>
          </a:p>
        </p:txBody>
      </p:sp>
      <p:pic>
        <p:nvPicPr>
          <p:cNvPr id="28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59" y="5248655"/>
            <a:ext cx="384047" cy="3840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32320" y="498347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MCP Server สำหรับค้นความรู้</a:t>
            </a:r>
          </a:p>
        </p:txBody>
      </p:sp>
      <p:pic>
        <p:nvPicPr>
          <p:cNvPr id="30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59" y="6254496"/>
            <a:ext cx="384047" cy="3840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0" y="598932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Studio: Knowledge Set, Use case, Agent Builder</a:t>
            </a:r>
          </a:p>
        </p:txBody>
      </p:sp>
      <p:pic>
        <p:nvPicPr>
          <p:cNvPr id="32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59" y="7260336"/>
            <a:ext cx="384047" cy="3840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32320" y="699516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Playground และชุดสอบวัดความแม่นยำ</a:t>
            </a:r>
          </a:p>
        </p:txBody>
      </p:sp>
      <p:pic>
        <p:nvPicPr>
          <p:cNvPr id="34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59" y="8266175"/>
            <a:ext cx="384047" cy="38404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32320" y="800100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Import–Export Ready Agent</a:t>
            </a:r>
          </a:p>
        </p:txBody>
      </p:sp>
      <p:sp>
        <p:nvSpPr>
          <p:cNvPr id="36" name="Horizon 3"/>
          <p:cNvSpPr/>
          <p:nvPr/>
        </p:nvSpPr>
        <p:spPr>
          <a:xfrm>
            <a:off x="11064240" y="2788920"/>
            <a:ext cx="4480560" cy="6263640"/>
          </a:xfrm>
          <a:prstGeom prst="roundRect">
            <a:avLst>
              <a:gd name="adj" fmla="val 5102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338560" y="3063239"/>
            <a:ext cx="3931920" cy="594360"/>
          </a:xfrm>
          <a:prstGeom prst="roundRect">
            <a:avLst>
              <a:gd name="adj" fmla="val 38461"/>
            </a:avLst>
          </a:prstGeom>
          <a:solidFill>
            <a:srgbClr val="003D60"/>
          </a:solidFill>
          <a:ln>
            <a:noFill/>
          </a:ln>
        </p:spPr>
        <p:txBody>
          <a:bodyPr rtlCol="0" anchor="ctr" wrap="square" lIns="137160" tIns="0" rIns="13716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หลังงาน Expo</a:t>
            </a:r>
          </a:p>
        </p:txBody>
      </p:sp>
      <p:pic>
        <p:nvPicPr>
          <p:cNvPr id="38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0" y="4242816"/>
            <a:ext cx="384047" cy="3840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932919" y="397763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OpenAI-compatible API + API Key ต่อลูกค้า</a:t>
            </a:r>
          </a:p>
        </p:txBody>
      </p:sp>
      <p:pic>
        <p:nvPicPr>
          <p:cNvPr id="40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0" y="5248655"/>
            <a:ext cx="384047" cy="38404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932919" y="4983479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แยกข้อมูลต่อบริษัท (Multi-tenant) และโควตา</a:t>
            </a:r>
          </a:p>
        </p:txBody>
      </p:sp>
      <p:pic>
        <p:nvPicPr>
          <p:cNvPr id="42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0" y="6254496"/>
            <a:ext cx="384047" cy="3840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932919" y="598932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ช่องทาง LINE OA</a:t>
            </a:r>
          </a:p>
        </p:txBody>
      </p:sp>
      <p:pic>
        <p:nvPicPr>
          <p:cNvPr id="44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0" y="7260336"/>
            <a:ext cx="384047" cy="38404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932919" y="699516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MCP Gateway รวมหลาย MCP</a:t>
            </a:r>
          </a:p>
        </p:txBody>
      </p:sp>
      <p:pic>
        <p:nvPicPr>
          <p:cNvPr id="46" name="Icon Clock" descr="Clo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0" y="8266175"/>
            <a:ext cx="384047" cy="38404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932919" y="800100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Connector ไฟล์จำนวนมาก / DB / เว็บ</a:t>
            </a:r>
          </a:p>
        </p:txBody>
      </p:sp>
      <p:sp>
        <p:nvSpPr>
          <p:cNvPr id="48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แผนร่าง อาจปรับตามความพร้อมและความต้องการของลูกค้า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ราคาเบื้องต้น (ร่างข้อเสนอ)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788920"/>
            <a:ext cx="14081760" cy="594360"/>
          </a:xfrm>
          <a:prstGeom prst="roundRect">
            <a:avLst>
              <a:gd name="adj" fmla="val 30769"/>
            </a:avLst>
          </a:prstGeom>
          <a:solidFill>
            <a:srgbClr val="FFF3CC"/>
          </a:solidFill>
          <a:ln w="31750">
            <a:solidFill>
              <a:srgbClr val="FFBC00"/>
            </a:solidFill>
          </a:ln>
        </p:spPr>
        <p:txBody>
          <a:bodyPr rtlCol="0" anchor="ctr" wrap="square" lIns="274320" tIns="0" rIns="27432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3D60"/>
                </a:solidFill>
                <a:latin typeface="Poppins"/>
                <a:ea typeface="Poppins"/>
                <a:cs typeface="Tahoma"/>
              </a:rPr>
              <a:t>ร่างข้อเสนอเพื่อพิจารณา · ยังไม่ใช่ราคาที่ IMC ยืนยัน · ปรับตามขนาดองค์กร จำนวนผู้เข้าร่วม และขอบเขตงาน</a:t>
            </a:r>
          </a:p>
        </p:txBody>
      </p:sp>
      <p:graphicFrame>
        <p:nvGraphicFramePr>
          <p:cNvPr id="13" name="Pricing table"/>
          <p:cNvGraphicFramePr>
            <a:graphicFrameLocks noGrp="1"/>
          </p:cNvGraphicFramePr>
          <p:nvPr/>
        </p:nvGraphicFramePr>
        <p:xfrm>
          <a:off x="1463040" y="3566160"/>
          <a:ext cx="14081760" cy="5303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/>
                <a:gridCol w="6492240"/>
                <a:gridCol w="3566160"/>
              </a:tblGrid>
              <a:tr h="56692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รายการ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ขอบเขต (ตัวอย่าง)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Tahoma"/>
                        </a:rPr>
                        <a:t>ราคา (ร่างข้อเสนอ)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3D60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Free Assessment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คุยประเมินความพร้อมและงานนำร่อง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ไม่มีค่าใช้จ่าย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Workshop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อบรม 2–3 ชม. พร้อมลงมือทำงานจริง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30,000–50,000 บาท ต่อครั้ง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1  Quick-win Dashboard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ภายในไม่กี่วัน · 1 ชุดข้อมูล / 1 กลุ่มผู้บริหาร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80,000–150,000 บาท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2  AI Transformation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อบรม + Consult ทุก 2–3 วัน · 1 เดือน (งานนำร่อง 1 ฝ่าย) หรือ 2 เดือน (หลายฝ่าย)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1 เดือน 250,000–400,000 บาท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2 เดือน 450,000–700,000 บาท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3  Bot ทำงานแทนคน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Bot Starter · Department Bot Pack · Bot Care (รายเดือน)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ตามขอบเขต ยังไม่กำหนด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4  IMC Chat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ใช้ร่วม (Shared) หรือแยกของตัวเอง (Dedicated)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ตามขอบเขต ยังไม่กำหนด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3F5F7"/>
                    </a:solidFill>
                  </a:tcPr>
                </a:tc>
              </a:tr>
              <a:tr h="67665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5  Knowledge &amp; MCP Hub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Ready · Custom · Hybrid · ติดตั้ง Cloud / On-premise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oppins"/>
                          <a:ea typeface="Poppins"/>
                          <a:cs typeface="Tahoma"/>
                        </a:rPr>
                        <a:t>ตามขอบเขต ยังไม่กำหนด</a:t>
                      </a:r>
                    </a:p>
                  </a:txBody>
                  <a:tcPr marL="137160" marR="137160" marT="64008" marB="64008" anchor="ctr">
                    <a:lnL w="12700">
                      <a:solidFill>
                        <a:srgbClr val="C9D2D9"/>
                      </a:solidFill>
                    </a:lnL>
                    <a:lnR w="12700">
                      <a:solidFill>
                        <a:srgbClr val="C9D2D9"/>
                      </a:solidFill>
                    </a:lnR>
                    <a:lnT w="12700">
                      <a:solidFill>
                        <a:srgbClr val="C9D2D9"/>
                      </a:solidFill>
                    </a:lnT>
                    <a:lnB w="12700">
                      <a:solidFill>
                        <a:srgbClr val="C9D2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Footnote"/>
          <p:cNvSpPr txBox="1"/>
          <p:nvPr/>
        </p:nvSpPr>
        <p:spPr>
          <a:xfrm>
            <a:off x="1463040" y="9144000"/>
            <a:ext cx="1408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B6670"/>
                </a:solidFill>
                <a:latin typeface="Poppins"/>
                <a:ea typeface="Poppins"/>
                <a:cs typeface="Tahoma"/>
              </a:rPr>
              <a:t>ค่าเครื่องมือ AI และระบบที่ลูกค้าต้องใช้ แยกจากค่าบริการ · ต่อยอดจากแพ็กเกจ 1 หรือ Workshop ไปแพ็กเกจ 2 อาจหักเป็นส่วนลด (ข้อเสนอ)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1" name="Title"/>
          <p:cNvSpPr txBox="1"/>
          <p:nvPr/>
        </p:nvSpPr>
        <p:spPr>
          <a:xfrm>
            <a:off x="3584448" y="795528"/>
            <a:ext cx="108447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League Spartan"/>
                <a:ea typeface="League Spartan"/>
                <a:cs typeface="Tahoma"/>
              </a:rPr>
              <a:t>เริ่มต้นกับ IMC ใน 3 ขั้น</a:t>
            </a:r>
          </a:p>
        </p:txBody>
      </p:sp>
      <p:sp>
        <p:nvSpPr>
          <p:cNvPr id="12" name="Next 1"/>
          <p:cNvSpPr/>
          <p:nvPr/>
        </p:nvSpPr>
        <p:spPr>
          <a:xfrm>
            <a:off x="1463040" y="2788920"/>
            <a:ext cx="7955279" cy="1965960"/>
          </a:xfrm>
          <a:prstGeom prst="roundRect">
            <a:avLst>
              <a:gd name="adj" fmla="val 116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1"/>
          <p:cNvSpPr/>
          <p:nvPr/>
        </p:nvSpPr>
        <p:spPr>
          <a:xfrm>
            <a:off x="1737360" y="310896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44952"/>
            <a:ext cx="6355079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นัด Free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703320"/>
            <a:ext cx="6355079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คุยกับทีม IMC ประเมินงานที่เหมาะกับ AI และเลือกงานนำร่อง</a:t>
            </a:r>
          </a:p>
        </p:txBody>
      </p:sp>
      <p:sp>
        <p:nvSpPr>
          <p:cNvPr id="16" name="Next 2"/>
          <p:cNvSpPr/>
          <p:nvPr/>
        </p:nvSpPr>
        <p:spPr>
          <a:xfrm>
            <a:off x="1463040" y="4937760"/>
            <a:ext cx="7955279" cy="1965960"/>
          </a:xfrm>
          <a:prstGeom prst="roundRect">
            <a:avLst>
              <a:gd name="adj" fmla="val 116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adge 2"/>
          <p:cNvSpPr/>
          <p:nvPr/>
        </p:nvSpPr>
        <p:spPr>
          <a:xfrm>
            <a:off x="1737360" y="525780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193792"/>
            <a:ext cx="6355079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เลือกแพ็กเกจ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852160"/>
            <a:ext cx="6355079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Quick-win · AI Transformation · Bot · IMC Chat · Knowledge &amp; MCP Hub</a:t>
            </a:r>
          </a:p>
        </p:txBody>
      </p:sp>
      <p:sp>
        <p:nvSpPr>
          <p:cNvPr id="20" name="Next 3"/>
          <p:cNvSpPr/>
          <p:nvPr/>
        </p:nvSpPr>
        <p:spPr>
          <a:xfrm>
            <a:off x="1463040" y="7086600"/>
            <a:ext cx="7955279" cy="1965960"/>
          </a:xfrm>
          <a:prstGeom prst="roundRect">
            <a:avLst>
              <a:gd name="adj" fmla="val 11627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dge 3"/>
          <p:cNvSpPr/>
          <p:nvPr/>
        </p:nvSpPr>
        <p:spPr>
          <a:xfrm>
            <a:off x="1737360" y="7406640"/>
            <a:ext cx="731520" cy="73152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League Spartan"/>
                <a:ea typeface="League Spartan"/>
                <a:cs typeface="Tahom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7342631"/>
            <a:ext cx="6355079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D60"/>
                </a:solidFill>
                <a:latin typeface="League Spartan"/>
                <a:ea typeface="League Spartan"/>
                <a:cs typeface="Tahoma"/>
              </a:rPr>
              <a:t>Kick-off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8001000"/>
            <a:ext cx="6355079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  <a:ea typeface="Poppins"/>
                <a:cs typeface="Tahoma"/>
              </a:rPr>
              <a:t>อบรมปรับ Mindset แล้วลงมือสร้าง Bots กับงานจริงทันที</a:t>
            </a:r>
          </a:p>
        </p:txBody>
      </p:sp>
      <p:sp>
        <p:nvSpPr>
          <p:cNvPr id="24" name="Contact card"/>
          <p:cNvSpPr/>
          <p:nvPr/>
        </p:nvSpPr>
        <p:spPr>
          <a:xfrm>
            <a:off x="9784080" y="2788920"/>
            <a:ext cx="5760720" cy="6263640"/>
          </a:xfrm>
          <a:prstGeom prst="roundRect">
            <a:avLst>
              <a:gd name="adj" fmla="val 3968"/>
            </a:avLst>
          </a:prstGeom>
          <a:solidFill>
            <a:srgbClr val="003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3063239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BC00"/>
                </a:solidFill>
                <a:latin typeface="League Spartan"/>
                <a:ea typeface="League Spartan"/>
                <a:cs typeface="Tahoma"/>
              </a:rPr>
              <a:t>ติดต่อเรา</a:t>
            </a:r>
          </a:p>
        </p:txBody>
      </p:sp>
      <p:sp>
        <p:nvSpPr>
          <p:cNvPr id="26" name="Oval 25"/>
          <p:cNvSpPr/>
          <p:nvPr/>
        </p:nvSpPr>
        <p:spPr>
          <a:xfrm>
            <a:off x="10149840" y="4069079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Icon Phone" descr="Phon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2719" y="4251959"/>
            <a:ext cx="411479" cy="411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5680" y="4023359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Tel: 099-347-9694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      088-192-7975</a:t>
            </a:r>
          </a:p>
        </p:txBody>
      </p:sp>
      <p:sp>
        <p:nvSpPr>
          <p:cNvPr id="29" name="Oval 28"/>
          <p:cNvSpPr/>
          <p:nvPr/>
        </p:nvSpPr>
        <p:spPr>
          <a:xfrm>
            <a:off x="10149840" y="5257799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Icon Mail" descr="Mail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719" y="5440679"/>
            <a:ext cx="411479" cy="4114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5680" y="5212079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contact@imcinstitute.com</a:t>
            </a:r>
          </a:p>
        </p:txBody>
      </p:sp>
      <p:sp>
        <p:nvSpPr>
          <p:cNvPr id="32" name="Oval 31"/>
          <p:cNvSpPr/>
          <p:nvPr/>
        </p:nvSpPr>
        <p:spPr>
          <a:xfrm>
            <a:off x="10149840" y="6446519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Icon Facebook" descr="Facebook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2719" y="6629399"/>
            <a:ext cx="411479" cy="4114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55680" y="6400799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Facebook: IMC Institute</a:t>
            </a:r>
          </a:p>
        </p:txBody>
      </p:sp>
      <p:sp>
        <p:nvSpPr>
          <p:cNvPr id="35" name="Oval 34"/>
          <p:cNvSpPr/>
          <p:nvPr/>
        </p:nvSpPr>
        <p:spPr>
          <a:xfrm>
            <a:off x="10149840" y="7635240"/>
            <a:ext cx="777240" cy="7772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Icon MessageSquare" descr="MessageSquare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2719" y="7818119"/>
            <a:ext cx="411479" cy="4114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155680" y="7589519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  <a:ea typeface="Poppins"/>
                <a:cs typeface="Tahoma"/>
              </a:rPr>
              <a:t>Line: @imcinstitute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801313">
            <a:off x="17880564" y="-1225519"/>
            <a:ext cx="1603602" cy="5817991"/>
            <a:chOff x="0" y="0"/>
            <a:chExt cx="422348" cy="153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348" cy="1532310"/>
            </a:xfrm>
            <a:custGeom>
              <a:avLst/>
              <a:gdLst/>
              <a:ahLst/>
              <a:cxnLst/>
              <a:rect r="r" b="b" t="t" l="l"/>
              <a:pathLst>
                <a:path h="1532310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1532310"/>
                  </a:lnTo>
                  <a:lnTo>
                    <a:pt x="0" y="153231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2348" cy="1589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36825" cy="10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3"/>
              <a:stretch>
                <a:fillRect l="-26258" t="0" r="-2625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42748" cy="2135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12800" cy="212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569629" y="4123276"/>
            <a:ext cx="10225576" cy="1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true" sz="9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 &amp; 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2640" y="7339236"/>
            <a:ext cx="8138160" cy="241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ขอบคุณครับ</a:t>
            </a: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IMC Institute</a:t>
            </a: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/>
            </a:r>
          </a:p>
          <a:p>
            <a:pPr algn="r">
              <a:lnSpc>
                <a:spcPts val="4760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contact@imcinstitute.com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knowle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DAHW90nSmAI</dc:identifier>
  <dcterms:modified xsi:type="dcterms:W3CDTF">2011-08-01T06:04:30Z</dcterms:modified>
  <cp:revision>1</cp:revision>
  <dc:title>Agentic AI Development using n8n and MCP: Oct  2026</dc:title>
</cp:coreProperties>
</file>